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</p:sldIdLst>
  <p:sldSz cy="5143500" cx="9144000"/>
  <p:notesSz cx="6858000" cy="9144000"/>
  <p:embeddedFontLst>
    <p:embeddedFont>
      <p:font typeface="Economica"/>
      <p:regular r:id="rId83"/>
      <p:bold r:id="rId84"/>
      <p:italic r:id="rId85"/>
      <p:boldItalic r:id="rId86"/>
    </p:embeddedFont>
    <p:embeddedFont>
      <p:font typeface="Lato"/>
      <p:regular r:id="rId87"/>
      <p:bold r:id="rId88"/>
      <p:italic r:id="rId89"/>
      <p:boldItalic r:id="rId90"/>
    </p:embeddedFont>
    <p:embeddedFont>
      <p:font typeface="Open Sans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font" Target="fonts/Economica-bold.fntdata"/><Relationship Id="rId83" Type="http://schemas.openxmlformats.org/officeDocument/2006/relationships/font" Target="fonts/Economica-regular.fntdata"/><Relationship Id="rId42" Type="http://schemas.openxmlformats.org/officeDocument/2006/relationships/slide" Target="slides/slide38.xml"/><Relationship Id="rId86" Type="http://schemas.openxmlformats.org/officeDocument/2006/relationships/font" Target="fonts/Economica-boldItalic.fntdata"/><Relationship Id="rId41" Type="http://schemas.openxmlformats.org/officeDocument/2006/relationships/slide" Target="slides/slide37.xml"/><Relationship Id="rId85" Type="http://schemas.openxmlformats.org/officeDocument/2006/relationships/font" Target="fonts/Economica-italic.fntdata"/><Relationship Id="rId44" Type="http://schemas.openxmlformats.org/officeDocument/2006/relationships/slide" Target="slides/slide40.xml"/><Relationship Id="rId88" Type="http://schemas.openxmlformats.org/officeDocument/2006/relationships/font" Target="fonts/Lato-bold.fntdata"/><Relationship Id="rId43" Type="http://schemas.openxmlformats.org/officeDocument/2006/relationships/slide" Target="slides/slide39.xml"/><Relationship Id="rId87" Type="http://schemas.openxmlformats.org/officeDocument/2006/relationships/font" Target="fonts/Lato-regular.fntdata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font" Target="fonts/Lato-italic.fntdata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94" Type="http://schemas.openxmlformats.org/officeDocument/2006/relationships/font" Target="fonts/OpenSans-boldItalic.fntdata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font" Target="fonts/OpenSans-regular.fntdata"/><Relationship Id="rId90" Type="http://schemas.openxmlformats.org/officeDocument/2006/relationships/font" Target="fonts/Lato-boldItalic.fntdata"/><Relationship Id="rId93" Type="http://schemas.openxmlformats.org/officeDocument/2006/relationships/font" Target="fonts/OpenSans-italic.fntdata"/><Relationship Id="rId92" Type="http://schemas.openxmlformats.org/officeDocument/2006/relationships/font" Target="fonts/OpenSans-bold.fntdata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a3ea343682476c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a3ea343682476c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a3ea343682476c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a3ea343682476c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a3ea343682476c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a3ea343682476c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a3ea343682476c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a3ea343682476c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8b544cb1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8b544cb1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a3ea343682476c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a3ea343682476c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a3ea343682476c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a3ea343682476c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69f6604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69f660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386d36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386d36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a3ea343682476c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a3ea343682476c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8386d36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8386d36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a3ea343682476c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a3ea343682476c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a3ea343682476c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a3ea343682476c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a3ea343682476c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da3ea343682476c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da3ea343682476c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da3ea343682476c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a3ea343682476c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da3ea343682476c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a3ea343682476c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a3ea343682476c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a3ea343682476c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a3ea343682476c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da3ea343682476c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da3ea343682476c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a3ea343682476c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a3ea343682476c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a3ea343682476c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a3ea343682476c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da3ea343682476c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da3ea343682476c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8b544cb1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8b544cb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8b544cb1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8b544cb1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8aed273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8aed273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8af38a2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8af38a2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8b544cb1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8b544cb1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8b544cb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8b544cb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8b544cb1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8b544cb1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8b544cb1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8b544cb1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b544cb1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b544cb1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39fefd4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39fefd4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ee2dc06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ee2dc06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b16aac426c8ff8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b16aac426c8ff8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39fefd4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39fefd4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9fefd4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9fefd4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8b544cb1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8b544cb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b544cb1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b544cb1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8b544cb1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8b544cb1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8b544cb1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8b544cb1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8b544cb1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8b544cb1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8b544cb1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8b544cb1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8b544cb12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8b544cb12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8b544cb1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8b544cb1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8b544cb1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8b544cb1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8b544cb12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8b544cb12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ee2dc062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ee2dc062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6866ef01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6866ef01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6ab82c51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6ab82c5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6ab82c51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6ab82c51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688f77fa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688f77fa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688f77faa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688f77fa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688f77fa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688f77fa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688f77fa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688f77fa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a3ea343682476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a3ea343682476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688f77faa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688f77faa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6866ef01a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6866ef01a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688f77faa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688f77faa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688f77fa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688f77fa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688f77faa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688f77fa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688f77fa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688f77fa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688f77fa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688f77fa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688f77faa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688f77faa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688f77fa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688f77fa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688f77faa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688f77faa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688f77faa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688f77faa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688f77faa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688f77faa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688f77faa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688f77faa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6a8ca98a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6a8ca98a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6a8ca98a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6a8ca98a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6a8ca98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6a8ca98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688f77fa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1688f77fa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da3ea343682476c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da3ea343682476c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688f77faa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688f77faa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1688f77faa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1688f77faa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da3ea343682476c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da3ea343682476c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da3ea343682476c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da3ea343682476c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○"/>
              <a:defRPr sz="1800">
                <a:solidFill>
                  <a:srgbClr val="38761D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  <a:defRPr>
                <a:solidFill>
                  <a:srgbClr val="FF0000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00"/>
              <a:buChar char="○"/>
              <a:defRPr b="1" sz="1000">
                <a:solidFill>
                  <a:srgbClr val="0000FF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olizardo@nd.edu" TargetMode="External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journals.sagepub.com/doi/abs/10.1177/2378023116669726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mailto:olizardo@nd.edu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66648"/>
            <a:ext cx="3054600" cy="21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Schematic Logics and Patterns of Cultural Choice</a:t>
            </a:r>
            <a:endParaRPr sz="36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74"/>
            <a:ext cx="3054600" cy="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Linking Cognition and Action in the Sociology of Taste</a:t>
            </a:r>
            <a:endParaRPr sz="24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639575" y="1914300"/>
            <a:ext cx="25896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Omar Lizardo 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olizardo@nd.edu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UC San Diego 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Sociology Colloquium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 Speaker Series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Lato"/>
                <a:ea typeface="Lato"/>
                <a:cs typeface="Lato"/>
                <a:sym typeface="Lato"/>
              </a:rPr>
              <a:t>March 9th 2017</a:t>
            </a:r>
            <a:endParaRPr sz="1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your-e-cards.png"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300" y="673550"/>
            <a:ext cx="2738700" cy="19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Sociology of taste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Long tradition of studying consumption and taste as “patterns of cultural choice” (Peterson 1983)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Focus on uncovering “dimensions” of cultural taste based on large-scale data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Mass/Elite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Omnivore/Univore 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Highbrow/Popular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Voracious/Paucivore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“Varieties” of omnivorousness, univorousness, etc.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Sociology of taste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Long tradition of studying consumption and taste as “patterns of cultural choice” (Peterson 1983)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Focus on uncovering “dimensions” of cultural taste based on large-scale data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Mass/Elite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Omnivore/Univore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Highbrow/Popular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Voracious/Paucivore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“Varieties” of omnivorousness, univorousness,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Sociology of taste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Equally long tradition of studying socio-demographics correlates of such patterns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Cultural capital theory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 and consumption studies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Generational approaches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Ethnoracial correlates culture consumption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Culture and Cognition Studies: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Focus on studying the link between shared patterns of thinking/classification and 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Duality of schemas and resources productive of practices (Sewell 1992)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Structured activation of schemas lead to regular action patterns (DiMaggio 1997)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Share social patterns define collective categories and frames (Zerubavel 1999)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Durable cognitive structures emerge from prolonged experiences in a given social location (Bourdieu 1984, 1990)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Schemass and categories are used for purposes of evaluation and choice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Culture and Cognition Studies: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Focus on studying the link between shared patterns of thinking/classification and 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Duality of schemas and resources productive of practices (Sewell 1992)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Structured activation of schemas lead to regular action patterns (DiMaggio 1997)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Share social patterns define collective categories and frames (Zerubavel 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Durable cognitive structures emerge from prolonged experiences in a given social location (Bourdieu 1984, 1990)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Schemas and categories are used for purposes of evaluation and choice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/>
              <a:t>Generally tenuous link between culture and cognition studies and the sociology of taste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Although Bourdieu (1984) built his own theory of taste on social cognitive foundations (Lizardo 2013)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○"/>
            </a:pPr>
            <a:r>
              <a:rPr lang="en">
                <a:solidFill>
                  <a:srgbClr val="B7B7B7"/>
                </a:solidFill>
              </a:rPr>
              <a:t>Recently Goldberg (2011) proposed a theoretical merger between the two fields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Drawing on DiMaggio (1997) Goldberg proposes that </a:t>
            </a:r>
            <a:r>
              <a:rPr b="1" lang="en">
                <a:solidFill>
                  <a:srgbClr val="B7B7B7"/>
                </a:solidFill>
              </a:rPr>
              <a:t>overt </a:t>
            </a:r>
            <a:r>
              <a:rPr lang="en">
                <a:solidFill>
                  <a:srgbClr val="B7B7B7"/>
                </a:solidFill>
              </a:rPr>
              <a:t>patterns of cultural choice need  to be differentiated from the underlying </a:t>
            </a:r>
            <a:r>
              <a:rPr b="1" lang="en">
                <a:solidFill>
                  <a:srgbClr val="B7B7B7"/>
                </a:solidFill>
              </a:rPr>
              <a:t>schema</a:t>
            </a:r>
            <a:r>
              <a:rPr lang="en">
                <a:solidFill>
                  <a:srgbClr val="B7B7B7"/>
                </a:solidFill>
              </a:rPr>
              <a:t> that produces them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b="1" lang="en">
                <a:solidFill>
                  <a:srgbClr val="B7B7B7"/>
                </a:solidFill>
              </a:rPr>
              <a:t>Distinct</a:t>
            </a:r>
            <a:r>
              <a:rPr lang="en">
                <a:solidFill>
                  <a:srgbClr val="B7B7B7"/>
                </a:solidFill>
              </a:rPr>
              <a:t> patterns of cultural choice may be produced by the </a:t>
            </a:r>
            <a:r>
              <a:rPr b="1" lang="en">
                <a:solidFill>
                  <a:srgbClr val="B7B7B7"/>
                </a:solidFill>
              </a:rPr>
              <a:t>same</a:t>
            </a:r>
            <a:r>
              <a:rPr lang="en">
                <a:solidFill>
                  <a:srgbClr val="B7B7B7"/>
                </a:solidFill>
              </a:rPr>
              <a:t> schema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This is </a:t>
            </a:r>
            <a:r>
              <a:rPr b="1" lang="en">
                <a:solidFill>
                  <a:srgbClr val="B7B7B7"/>
                </a:solidFill>
              </a:rPr>
              <a:t>missed</a:t>
            </a:r>
            <a:r>
              <a:rPr lang="en">
                <a:solidFill>
                  <a:srgbClr val="B7B7B7"/>
                </a:solidFill>
              </a:rPr>
              <a:t> by classification/clustering methods based on </a:t>
            </a:r>
            <a:r>
              <a:rPr b="1" lang="en">
                <a:solidFill>
                  <a:srgbClr val="B7B7B7"/>
                </a:solidFill>
              </a:rPr>
              <a:t>overt</a:t>
            </a:r>
            <a:r>
              <a:rPr lang="en">
                <a:solidFill>
                  <a:srgbClr val="B7B7B7"/>
                </a:solidFill>
              </a:rPr>
              <a:t> responses 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/>
              <a:t>Generally tenuous link between culture and cognition studies and the sociology of taste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Although Bourdieu (1984) built his own theory of taste on social cognitive foundations (Lizardo 2013)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Recently Goldberg (2011) proposed a theoretical merger between the two fields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Drawing on DiMaggio (1997) Goldberg proposes that </a:t>
            </a:r>
            <a:r>
              <a:rPr b="1" lang="en"/>
              <a:t>overt </a:t>
            </a:r>
            <a:r>
              <a:rPr lang="en"/>
              <a:t>patterns of cultural choice need  to be differentiated from the underlying </a:t>
            </a:r>
            <a:r>
              <a:rPr b="1" lang="en"/>
              <a:t>schema</a:t>
            </a:r>
            <a:r>
              <a:rPr lang="en"/>
              <a:t> that produces them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Distinct</a:t>
            </a:r>
            <a:r>
              <a:rPr lang="en"/>
              <a:t> patterns of cultural choice may be produced by the </a:t>
            </a:r>
            <a:r>
              <a:rPr b="1" lang="en"/>
              <a:t>same</a:t>
            </a:r>
            <a:r>
              <a:rPr lang="en"/>
              <a:t> schema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is </a:t>
            </a:r>
            <a:r>
              <a:rPr b="1" lang="en"/>
              <a:t>missed</a:t>
            </a:r>
            <a:r>
              <a:rPr lang="en"/>
              <a:t> by classification/clustering methods based on </a:t>
            </a:r>
            <a:r>
              <a:rPr b="1" lang="en"/>
              <a:t>overt</a:t>
            </a:r>
            <a:r>
              <a:rPr lang="en"/>
              <a:t> responses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descr="Screenshot 2016-09-09 at 8.05.23 AM.png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212" y="1320750"/>
            <a:ext cx="7109577" cy="34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755725" y="1066550"/>
            <a:ext cx="7371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Standard approach: (A and B “similar”) but “opposite” of C and different from D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descr="Screenshot 2016-09-09 at 8.05.23 AM.png"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212" y="1320750"/>
            <a:ext cx="7109577" cy="34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755725" y="1066550"/>
            <a:ext cx="7371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Schematic logic approach: A, B, and C Similar, but different from D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Methodologically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Goldberg (2011) argues that underlying schemata may be recoverable from overt survey responses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Proposes “Relational Class Analysis” as a procedure that is fit for this task: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AutoNum type="arabicPeriod"/>
            </a:pPr>
            <a:r>
              <a:rPr lang="en">
                <a:solidFill>
                  <a:srgbClr val="B7B7B7"/>
                </a:solidFill>
              </a:rPr>
              <a:t>Compute “relationality” between each pair of respondents in the survey</a:t>
            </a:r>
            <a:endParaRPr>
              <a:solidFill>
                <a:srgbClr val="B7B7B7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AutoNum type="arabicPeriod"/>
            </a:pPr>
            <a:r>
              <a:rPr lang="en">
                <a:solidFill>
                  <a:srgbClr val="B7B7B7"/>
                </a:solidFill>
              </a:rPr>
              <a:t>Create a weighted network where the link between two respondents is inversely proportional to their relationality distance</a:t>
            </a:r>
            <a:endParaRPr>
              <a:solidFill>
                <a:srgbClr val="B7B7B7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AutoNum type="arabicPeriod"/>
            </a:pPr>
            <a:r>
              <a:rPr lang="en">
                <a:solidFill>
                  <a:srgbClr val="B7B7B7"/>
                </a:solidFill>
              </a:rPr>
              <a:t>Use a community detection algorithm (e.g. modularity maximization) to partition respondents into clusters </a:t>
            </a:r>
            <a:endParaRPr>
              <a:solidFill>
                <a:srgbClr val="B7B7B7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AutoNum type="arabicPeriod"/>
            </a:pPr>
            <a:r>
              <a:rPr lang="en">
                <a:solidFill>
                  <a:srgbClr val="B7B7B7"/>
                </a:solidFill>
              </a:rPr>
              <a:t>Persons in each cluster share the same schema even if they differ in terms of their overt response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Methodologically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Goldberg (2011) argues that underlying schemata may be recoverable from overt survey responses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Proposes “Relational Class Analysis” as a procedure that is fit for this task: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Compute “relationality” between each pair of respondents in the survey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Create a weighted network where the link between two respondents is inversely proportional to their relationality distance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Use a community detection algorithm (e.g. modularity maximization) to partition respondents into clusters 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Persons in each cluster share the same schema even if they differ in terms of their overt response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Methodologically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recently Boutyline (2016) has shown that the correlation distance outperforms relationality for this task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Argues that both RCA and his proposed “Correlational Class Analysis” can be thought of as special cases of a more general analytic procedure: </a:t>
            </a:r>
            <a:r>
              <a:rPr b="1" lang="en"/>
              <a:t>Schematic Class Analysis</a:t>
            </a:r>
            <a:r>
              <a:rPr lang="en"/>
              <a:t> 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Use a criterion for schematic similarity 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Create a network that links respondents according to their schematic similarity distance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Use a partitioning algorithm to segment the network into clusters</a:t>
            </a:r>
            <a:endParaRPr>
              <a:solidFill>
                <a:srgbClr val="0000FF"/>
              </a:solidFill>
            </a:endParaRPr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AutoNum type="arabicPeriod"/>
            </a:pPr>
            <a:r>
              <a:rPr lang="en">
                <a:solidFill>
                  <a:srgbClr val="0000FF"/>
                </a:solidFill>
              </a:rPr>
              <a:t>Treat persons in the same cluster as belonging to the same schematic class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Methodologically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recently Boutyline (2016) has shown that the correlation distance outperforms relationality for this task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Argues that both RCA and his proposed “Correlational Class Analysis” can be thought of as special cases of a more general analytic procedure: </a:t>
            </a:r>
            <a:r>
              <a:rPr b="1" lang="en"/>
              <a:t>Schematic Class Analysis</a:t>
            </a:r>
            <a:r>
              <a:rPr lang="en"/>
              <a:t> 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Use a criterion for schematic similarity 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C</a:t>
            </a:r>
            <a:r>
              <a:rPr b="1" lang="en"/>
              <a:t>orrelation</a:t>
            </a:r>
            <a:r>
              <a:rPr lang="en"/>
              <a:t>, </a:t>
            </a:r>
            <a:r>
              <a:rPr b="1" lang="en"/>
              <a:t>relationality</a:t>
            </a:r>
            <a:r>
              <a:rPr lang="en"/>
              <a:t>, </a:t>
            </a:r>
            <a:r>
              <a:rPr b="1" lang="en"/>
              <a:t>??</a:t>
            </a:r>
            <a:endParaRPr b="1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Create a network that links respondents according to their schematic similarity distance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Use a partitioning algorithm to segment the network into clusters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Modularity maximization, divisive/ agglomerative clustering ??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Treat persons in the same cluster as belonging to the same schematic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Aim to move forward the application of schematic class analysis to studying patterns of cultural taste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Previous work (Goldberg 2011; Boutyline 2016) has been limited empirically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has led to (unintended) theoretical limitations/hangups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Schematic class analysis at a minimum requires evaluative data on cultural items along a bipolar scale (e.g. like and dislike)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However, for the U.S. only recent source of such data is GSS 1993 (!)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importantly, GSS 1993 is a limited resource for schematic class analysis because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contains data </a:t>
            </a:r>
            <a:r>
              <a:rPr b="1" lang="en"/>
              <a:t>only </a:t>
            </a:r>
            <a:r>
              <a:rPr lang="en"/>
              <a:t>on evaluations of cultural objects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analysts (Goldberg 2011; Boutyline 2016) are forced to “read”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Behavioral</a:t>
            </a:r>
            <a:r>
              <a:rPr lang="en"/>
              <a:t> propensities (e.g. omnivore/univore) from schematic maps obtained from empirical correlations of taste </a:t>
            </a:r>
            <a:r>
              <a:rPr b="1" lang="en"/>
              <a:t>judgments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 question of whether different schematic taste logics lead to different behavioral patterns remains unanswered</a:t>
            </a:r>
            <a:endParaRPr b="1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The answer is yes!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Open Sans"/>
              <a:buChar char="○"/>
            </a:pPr>
            <a:r>
              <a:rPr lang="en"/>
              <a:t>Culture and cognition researchers are clear that a given schema only provides a </a:t>
            </a:r>
            <a:r>
              <a:rPr b="1" lang="en"/>
              <a:t>blueprint</a:t>
            </a:r>
            <a:r>
              <a:rPr lang="en"/>
              <a:t> for (diverse forms) of </a:t>
            </a:r>
            <a:r>
              <a:rPr b="1" lang="en"/>
              <a:t>behavior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no </a:t>
            </a:r>
            <a:r>
              <a:rPr b="1" lang="en"/>
              <a:t>one-to-one</a:t>
            </a:r>
            <a:r>
              <a:rPr lang="en"/>
              <a:t> linkage between </a:t>
            </a:r>
            <a:r>
              <a:rPr b="1" lang="en"/>
              <a:t>schema</a:t>
            </a:r>
            <a:r>
              <a:rPr lang="en"/>
              <a:t> and </a:t>
            </a:r>
            <a:r>
              <a:rPr b="1" lang="en"/>
              <a:t>behavior</a:t>
            </a:r>
            <a:endParaRPr b="1"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This is most evident in labelling some of the schemas “omnivore/univore”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 taste schemas may have potential for distinct forms of omnivorousness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Make a contribution to recent work on “varieties of omnivorousness” 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Warde et al 2007; Van Eijck and Lievens 2008; Ollivier 2008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is required?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 containing information on taste evaluations 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 elicit schematic classes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 containing </a:t>
            </a:r>
            <a:r>
              <a:rPr b="1" lang="en"/>
              <a:t>independent</a:t>
            </a:r>
            <a:r>
              <a:rPr lang="en"/>
              <a:t> information on behavioral choices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 order to ascertain the </a:t>
            </a:r>
            <a:r>
              <a:rPr b="1" lang="en"/>
              <a:t>behavioral potential </a:t>
            </a:r>
            <a:r>
              <a:rPr lang="en"/>
              <a:t>of different schemas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Empirically, rather than definitionally or speculatively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Data on a more </a:t>
            </a:r>
            <a:r>
              <a:rPr b="1" lang="en"/>
              <a:t>recent</a:t>
            </a:r>
            <a:r>
              <a:rPr lang="en"/>
              <a:t> sample of Americans to examine issues of schema durability or change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culture and cognition theorists (e.g. Bourdieu) posit schematic durability over time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Others (DiMaggio 1997; Swidler 2001) point to change responsive to structural changes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See Vaisey and Lizardo (2016)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Many macrolevel transformations since 1993!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Guess what? We have the data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Attempt to replicate GSS 1993 “Culture Module”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Collected information on:	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Patterns of likes/dislikes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Patterns of choices (“regularly listen to”)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Sociodemographic characteristics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Across 20 musical genres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N = 2100 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Collected by Survey Sample International (SSI)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Approximates a representative sample of the U.S.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Previous work (Lizardo and Skiles 2015, 2016) shows it to have good validity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Contributions of the present work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Guess what? We have the data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Attempt to replicate GSS 1993 “Culture Module”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Genres: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Rock, Rap/Hip Hop, Opera/Operetta, Broadway Musicals, Heavy Metal/Hard Rock, Latin/Spanish/Salsa, Jazz, Hymn/Gospel/Religious, Folk, Mood/Easy Listening, Country, Classical, Bluegrass, Blues/R&amp;B, Dance/Techno, </a:t>
            </a:r>
            <a:r>
              <a:rPr b="1" lang="en"/>
              <a:t>Alternative</a:t>
            </a:r>
            <a:r>
              <a:rPr lang="en"/>
              <a:t>, </a:t>
            </a:r>
            <a:r>
              <a:rPr b="1" lang="en"/>
              <a:t>Pop/Top 40,</a:t>
            </a:r>
            <a:r>
              <a:rPr lang="en"/>
              <a:t> Big Band, Mood/Easy Listening, Reggae, Contemporary Rock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GSS asked about “new age”; we didn’t (substituted Dance/Techno)</a:t>
            </a:r>
            <a:endParaRPr/>
          </a:p>
          <a:p>
            <a:pPr indent="-292100" lvl="4" marL="22860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GSS did not ask about “Alternative Rock” or Pop/Top 40; we did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Expectations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Previous work on SCA using GSS 1993 sets the expectations for our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Goldberg (2011) using </a:t>
            </a:r>
            <a:r>
              <a:rPr b="1" lang="en"/>
              <a:t>relationality</a:t>
            </a:r>
            <a:r>
              <a:rPr lang="en"/>
              <a:t> as a similarity criterion finds three schematic classes in the U.S. Population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Omni-Univore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Hi-Low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Contempo</a:t>
            </a:r>
            <a:r>
              <a:rPr lang="en"/>
              <a:t> </a:t>
            </a:r>
            <a:r>
              <a:rPr b="1" lang="en"/>
              <a:t>Trad</a:t>
            </a:r>
            <a:endParaRPr b="1"/>
          </a:p>
        </p:txBody>
      </p:sp>
      <p:pic>
        <p:nvPicPr>
          <p:cNvPr descr="goldberg-fig3.png" id="188" name="Google Shape;188;p33"/>
          <p:cNvPicPr preferRelativeResize="0"/>
          <p:nvPr/>
        </p:nvPicPr>
        <p:blipFill rotWithShape="1">
          <a:blip r:embed="rId3">
            <a:alphaModFix/>
          </a:blip>
          <a:srcRect b="24271" l="11885" r="8402" t="0"/>
          <a:stretch/>
        </p:blipFill>
        <p:spPr>
          <a:xfrm>
            <a:off x="3119700" y="1179300"/>
            <a:ext cx="5494603" cy="27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Expectations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Previous work on SCA using GSS 1993 sets the expectations for our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Boutyline (2016) reanalyzed the same data using </a:t>
            </a:r>
            <a:r>
              <a:rPr b="1" lang="en"/>
              <a:t>correlation</a:t>
            </a:r>
            <a:r>
              <a:rPr lang="en"/>
              <a:t> as the similarity criterion finding the U.S. population to be more schematically diverse: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Omni-Univore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Contempo-Trad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No Heavy Metal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No Country</a:t>
            </a:r>
            <a:endParaRPr i="1"/>
          </a:p>
        </p:txBody>
      </p:sp>
      <p:pic>
        <p:nvPicPr>
          <p:cNvPr descr="boutyline-fig10.png" id="195" name="Google Shape;195;p34"/>
          <p:cNvPicPr preferRelativeResize="0"/>
          <p:nvPr/>
        </p:nvPicPr>
        <p:blipFill rotWithShape="1">
          <a:blip r:embed="rId3">
            <a:alphaModFix/>
          </a:blip>
          <a:srcRect b="0" l="0" r="0" t="9149"/>
          <a:stretch/>
        </p:blipFill>
        <p:spPr>
          <a:xfrm>
            <a:off x="3725025" y="555600"/>
            <a:ext cx="3945574" cy="416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Empirical Expectations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Previous work on SCA using GSS 1993 sets the expectations for our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Following Boutyline, we use </a:t>
            </a:r>
            <a:r>
              <a:rPr b="1" lang="en"/>
              <a:t>correlation</a:t>
            </a:r>
            <a:r>
              <a:rPr lang="en"/>
              <a:t> as our schematic distance criterion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Like both efforts we use modularity maximization to elicit classes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Boutyline’s CCA package for R</a:t>
            </a:r>
            <a:endParaRPr b="1"/>
          </a:p>
        </p:txBody>
      </p:sp>
      <p:pic>
        <p:nvPicPr>
          <p:cNvPr descr="boutyline-fig10.png" id="202" name="Google Shape;202;p35"/>
          <p:cNvPicPr preferRelativeResize="0"/>
          <p:nvPr/>
        </p:nvPicPr>
        <p:blipFill rotWithShape="1">
          <a:blip r:embed="rId3">
            <a:alphaModFix/>
          </a:blip>
          <a:srcRect b="0" l="0" r="0" t="9149"/>
          <a:stretch/>
        </p:blipFill>
        <p:spPr>
          <a:xfrm>
            <a:off x="3725025" y="555600"/>
            <a:ext cx="3945574" cy="416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Node color: </a:t>
            </a:r>
            <a:endParaRPr u="sng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Grouping of genres based on </a:t>
            </a:r>
            <a:r>
              <a:rPr b="1" lang="en"/>
              <a:t>exploratory factor analysis</a:t>
            </a:r>
            <a:r>
              <a:rPr lang="en"/>
              <a:t> of </a:t>
            </a:r>
            <a:r>
              <a:rPr b="1" lang="en"/>
              <a:t>behavioral choices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Four overt choice patterns: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Folk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Art</a:t>
            </a:r>
            <a:endParaRPr b="1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rPr b="1" lang="en"/>
              <a:t>Rock Pop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Afro Pop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 line with previous work (Frith 1998; Van Eijck 2001)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re-behav-typology.png"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Node color: </a:t>
            </a:r>
            <a:endParaRPr u="sng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rPr lang="en"/>
              <a:t>Grouping of genres based on </a:t>
            </a:r>
            <a:r>
              <a:rPr b="1" lang="en"/>
              <a:t>exploratory factor analysis</a:t>
            </a:r>
            <a:r>
              <a:rPr lang="en"/>
              <a:t> of </a:t>
            </a:r>
            <a:r>
              <a:rPr b="1" lang="en"/>
              <a:t>behavioral choices</a:t>
            </a:r>
            <a:endParaRPr b="1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/>
              <a:t>Most genres load strongly on factor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Two</a:t>
            </a:r>
            <a:r>
              <a:rPr lang="en"/>
              <a:t> ambiguous genres: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Char char="○"/>
            </a:pPr>
            <a:r>
              <a:rPr b="1" lang="en">
                <a:solidFill>
                  <a:srgbClr val="CC4125"/>
                </a:solidFill>
              </a:rPr>
              <a:t>Dance/Techno</a:t>
            </a:r>
            <a:endParaRPr b="1">
              <a:solidFill>
                <a:srgbClr val="CC4125"/>
              </a:solidFill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b="1" lang="en">
                <a:solidFill>
                  <a:srgbClr val="3D85C6"/>
                </a:solidFill>
              </a:rPr>
              <a:t>Rock</a:t>
            </a:r>
            <a:r>
              <a:rPr b="1" lang="en"/>
              <a:t>/</a:t>
            </a:r>
            <a:r>
              <a:rPr b="1" lang="en">
                <a:solidFill>
                  <a:srgbClr val="CC4125"/>
                </a:solidFill>
              </a:rPr>
              <a:t>Afro</a:t>
            </a:r>
            <a:endParaRPr b="1">
              <a:solidFill>
                <a:srgbClr val="CC4125"/>
              </a:solidFill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200"/>
              <a:buChar char="○"/>
            </a:pPr>
            <a:r>
              <a:rPr b="1" lang="en">
                <a:solidFill>
                  <a:srgbClr val="9900FF"/>
                </a:solidFill>
              </a:rPr>
              <a:t>Gospel/Religious</a:t>
            </a:r>
            <a:endParaRPr b="1">
              <a:solidFill>
                <a:srgbClr val="9900FF"/>
              </a:solidFill>
            </a:endParaRPr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b="1" lang="en">
                <a:solidFill>
                  <a:srgbClr val="9900FF"/>
                </a:solidFill>
              </a:rPr>
              <a:t>Folk</a:t>
            </a:r>
            <a:r>
              <a:rPr b="1" lang="en"/>
              <a:t>/</a:t>
            </a:r>
            <a:r>
              <a:rPr b="1" lang="en">
                <a:solidFill>
                  <a:srgbClr val="CC4125"/>
                </a:solidFill>
              </a:rPr>
              <a:t>Afro</a:t>
            </a:r>
            <a:endParaRPr b="1">
              <a:solidFill>
                <a:srgbClr val="CC4125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200"/>
              <a:buChar char="●"/>
            </a:pPr>
            <a:r>
              <a:rPr b="1" lang="en">
                <a:solidFill>
                  <a:srgbClr val="0000FF"/>
                </a:solidFill>
              </a:rPr>
              <a:t>Classified by highest loading</a:t>
            </a:r>
            <a:endParaRPr b="1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re-behav-typology.png"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5067125" y="62300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/>
          <p:nvPr/>
        </p:nvSpPr>
        <p:spPr>
          <a:xfrm>
            <a:off x="8054400" y="173452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311700" y="1399400"/>
            <a:ext cx="2808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Previous work on SCA using GSS 1993 sets the expectations for our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b="1" lang="en">
                <a:solidFill>
                  <a:srgbClr val="FF0000"/>
                </a:solidFill>
              </a:rPr>
              <a:t>Our results overlap with both Goldberg and Boutyline</a:t>
            </a:r>
            <a:endParaRPr b="1"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we uncover more schematic diversity: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Five rather than four classes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Splitter-Clumper distinction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38"/>
          <p:cNvGrpSpPr/>
          <p:nvPr/>
        </p:nvGrpSpPr>
        <p:grpSpPr>
          <a:xfrm>
            <a:off x="3119598" y="693437"/>
            <a:ext cx="5598027" cy="3967188"/>
            <a:chOff x="3119548" y="796587"/>
            <a:chExt cx="5598027" cy="3967188"/>
          </a:xfrm>
        </p:grpSpPr>
        <p:pic>
          <p:nvPicPr>
            <p:cNvPr descr="taste-corrnet-class1.png" id="226" name="Google Shape;226;p38"/>
            <p:cNvPicPr preferRelativeResize="0"/>
            <p:nvPr/>
          </p:nvPicPr>
          <p:blipFill rotWithShape="1">
            <a:blip r:embed="rId3">
              <a:alphaModFix/>
            </a:blip>
            <a:srcRect b="0" l="0" r="32651" t="6059"/>
            <a:stretch/>
          </p:blipFill>
          <p:spPr>
            <a:xfrm>
              <a:off x="3119700" y="796587"/>
              <a:ext cx="1741077" cy="186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2.png" id="227" name="Google Shape;227;p38"/>
            <p:cNvPicPr preferRelativeResize="0"/>
            <p:nvPr/>
          </p:nvPicPr>
          <p:blipFill rotWithShape="1">
            <a:blip r:embed="rId4">
              <a:alphaModFix/>
            </a:blip>
            <a:srcRect b="4796" l="0" r="30877" t="6062"/>
            <a:stretch/>
          </p:blipFill>
          <p:spPr>
            <a:xfrm>
              <a:off x="5120864" y="836182"/>
              <a:ext cx="1883110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3.png" id="228" name="Google Shape;228;p38"/>
            <p:cNvPicPr preferRelativeResize="0"/>
            <p:nvPr/>
          </p:nvPicPr>
          <p:blipFill rotWithShape="1">
            <a:blip r:embed="rId5">
              <a:alphaModFix/>
            </a:blip>
            <a:srcRect b="3618" l="0" r="31764" t="4563"/>
            <a:stretch/>
          </p:blipFill>
          <p:spPr>
            <a:xfrm>
              <a:off x="3119700" y="2743303"/>
              <a:ext cx="1804951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4.png" id="229" name="Google Shape;229;p38"/>
            <p:cNvPicPr preferRelativeResize="0"/>
            <p:nvPr/>
          </p:nvPicPr>
          <p:blipFill rotWithShape="1">
            <a:blip r:embed="rId6">
              <a:alphaModFix/>
            </a:blip>
            <a:srcRect b="2945" l="0" r="23722" t="5864"/>
            <a:stretch/>
          </p:blipFill>
          <p:spPr>
            <a:xfrm>
              <a:off x="5046752" y="2835760"/>
              <a:ext cx="2031337" cy="1867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38"/>
            <p:cNvSpPr txBox="1"/>
            <p:nvPr/>
          </p:nvSpPr>
          <p:spPr>
            <a:xfrm>
              <a:off x="3119638" y="2593050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Avant-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Garde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38"/>
            <p:cNvSpPr txBox="1"/>
            <p:nvPr/>
          </p:nvSpPr>
          <p:spPr>
            <a:xfrm>
              <a:off x="5159863" y="2593050"/>
              <a:ext cx="12744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Folksy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38"/>
            <p:cNvSpPr txBox="1"/>
            <p:nvPr/>
          </p:nvSpPr>
          <p:spPr>
            <a:xfrm>
              <a:off x="3119548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Generational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38"/>
            <p:cNvSpPr txBox="1"/>
            <p:nvPr/>
          </p:nvSpPr>
          <p:spPr>
            <a:xfrm>
              <a:off x="5113373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Multicultural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38"/>
            <p:cNvSpPr txBox="1"/>
            <p:nvPr/>
          </p:nvSpPr>
          <p:spPr>
            <a:xfrm>
              <a:off x="6976375" y="4521075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Conventional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 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taste-corrnet-class5.png" id="235" name="Google Shape;235;p38"/>
          <p:cNvPicPr preferRelativeResize="0"/>
          <p:nvPr/>
        </p:nvPicPr>
        <p:blipFill rotWithShape="1">
          <a:blip r:embed="rId7">
            <a:alphaModFix/>
          </a:blip>
          <a:srcRect b="5536" l="0" r="31954" t="5035"/>
          <a:stretch/>
        </p:blipFill>
        <p:spPr>
          <a:xfrm>
            <a:off x="6957525" y="2688701"/>
            <a:ext cx="1805101" cy="1779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38"/>
          <p:cNvGrpSpPr/>
          <p:nvPr/>
        </p:nvGrpSpPr>
        <p:grpSpPr>
          <a:xfrm>
            <a:off x="7070025" y="1260425"/>
            <a:ext cx="1580100" cy="936525"/>
            <a:chOff x="6897950" y="686525"/>
            <a:chExt cx="1580100" cy="936525"/>
          </a:xfrm>
        </p:grpSpPr>
        <p:sp>
          <p:nvSpPr>
            <p:cNvPr id="237" name="Google Shape;237;p38"/>
            <p:cNvSpPr/>
            <p:nvPr/>
          </p:nvSpPr>
          <p:spPr>
            <a:xfrm>
              <a:off x="6897950" y="686525"/>
              <a:ext cx="228900" cy="185100"/>
            </a:xfrm>
            <a:prstGeom prst="rect">
              <a:avLst/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8"/>
            <p:cNvSpPr/>
            <p:nvPr/>
          </p:nvSpPr>
          <p:spPr>
            <a:xfrm>
              <a:off x="6897950" y="937000"/>
              <a:ext cx="228900" cy="185100"/>
            </a:xfrm>
            <a:prstGeom prst="rect">
              <a:avLst/>
            </a:prstGeom>
            <a:solidFill>
              <a:srgbClr val="50BB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8"/>
            <p:cNvSpPr/>
            <p:nvPr/>
          </p:nvSpPr>
          <p:spPr>
            <a:xfrm>
              <a:off x="6897950" y="1187475"/>
              <a:ext cx="228900" cy="185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8"/>
            <p:cNvSpPr/>
            <p:nvPr/>
          </p:nvSpPr>
          <p:spPr>
            <a:xfrm>
              <a:off x="6897950" y="1437950"/>
              <a:ext cx="228900" cy="185100"/>
            </a:xfrm>
            <a:prstGeom prst="rect">
              <a:avLst/>
            </a:prstGeom>
            <a:solidFill>
              <a:srgbClr val="B0A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8"/>
            <p:cNvSpPr txBox="1"/>
            <p:nvPr/>
          </p:nvSpPr>
          <p:spPr>
            <a:xfrm>
              <a:off x="7126850" y="68652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2" name="Google Shape;242;p38"/>
            <p:cNvSpPr txBox="1"/>
            <p:nvPr/>
          </p:nvSpPr>
          <p:spPr>
            <a:xfrm>
              <a:off x="7126850" y="93700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Rock-Pop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3" name="Google Shape;243;p38"/>
            <p:cNvSpPr txBox="1"/>
            <p:nvPr/>
          </p:nvSpPr>
          <p:spPr>
            <a:xfrm>
              <a:off x="7126850" y="118747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Afro-Pop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4" name="Google Shape;244;p38"/>
            <p:cNvSpPr txBox="1"/>
            <p:nvPr/>
          </p:nvSpPr>
          <p:spPr>
            <a:xfrm>
              <a:off x="7126850" y="143795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Artistic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311700" y="1399400"/>
            <a:ext cx="2808000" cy="31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Previous work on SCA using GSS 1993 sets the expectations for our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Our results overlap with both Goldberg and Boutyline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we uncover more schematic diversity: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Five rather than four classes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Schematic conservation rather than radical change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b="1" lang="en">
                <a:solidFill>
                  <a:srgbClr val="FF0000"/>
                </a:solidFill>
              </a:rPr>
              <a:t>(Classes can be identified using the Goldberg/Boutyline labels)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39"/>
          <p:cNvGrpSpPr/>
          <p:nvPr/>
        </p:nvGrpSpPr>
        <p:grpSpPr>
          <a:xfrm>
            <a:off x="3119598" y="693437"/>
            <a:ext cx="5643028" cy="3967188"/>
            <a:chOff x="3119548" y="796587"/>
            <a:chExt cx="5643028" cy="3967188"/>
          </a:xfrm>
        </p:grpSpPr>
        <p:pic>
          <p:nvPicPr>
            <p:cNvPr descr="taste-corrnet-class1.png" id="252" name="Google Shape;252;p39"/>
            <p:cNvPicPr preferRelativeResize="0"/>
            <p:nvPr/>
          </p:nvPicPr>
          <p:blipFill rotWithShape="1">
            <a:blip r:embed="rId3">
              <a:alphaModFix/>
            </a:blip>
            <a:srcRect b="0" l="0" r="32651" t="6059"/>
            <a:stretch/>
          </p:blipFill>
          <p:spPr>
            <a:xfrm>
              <a:off x="3119700" y="796587"/>
              <a:ext cx="1741077" cy="186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2.png" id="253" name="Google Shape;253;p39"/>
            <p:cNvPicPr preferRelativeResize="0"/>
            <p:nvPr/>
          </p:nvPicPr>
          <p:blipFill rotWithShape="1">
            <a:blip r:embed="rId4">
              <a:alphaModFix/>
            </a:blip>
            <a:srcRect b="4796" l="0" r="30877" t="6062"/>
            <a:stretch/>
          </p:blipFill>
          <p:spPr>
            <a:xfrm>
              <a:off x="5120864" y="836182"/>
              <a:ext cx="1883110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3.png" id="254" name="Google Shape;254;p39"/>
            <p:cNvPicPr preferRelativeResize="0"/>
            <p:nvPr/>
          </p:nvPicPr>
          <p:blipFill rotWithShape="1">
            <a:blip r:embed="rId5">
              <a:alphaModFix/>
            </a:blip>
            <a:srcRect b="3618" l="0" r="31764" t="4563"/>
            <a:stretch/>
          </p:blipFill>
          <p:spPr>
            <a:xfrm>
              <a:off x="3119700" y="2743303"/>
              <a:ext cx="1804951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4.png" id="255" name="Google Shape;255;p39"/>
            <p:cNvPicPr preferRelativeResize="0"/>
            <p:nvPr/>
          </p:nvPicPr>
          <p:blipFill rotWithShape="1">
            <a:blip r:embed="rId6">
              <a:alphaModFix/>
            </a:blip>
            <a:srcRect b="2945" l="0" r="23722" t="5864"/>
            <a:stretch/>
          </p:blipFill>
          <p:spPr>
            <a:xfrm>
              <a:off x="5046752" y="2835760"/>
              <a:ext cx="2031337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5.png" id="256" name="Google Shape;256;p39"/>
            <p:cNvPicPr preferRelativeResize="0"/>
            <p:nvPr/>
          </p:nvPicPr>
          <p:blipFill rotWithShape="1">
            <a:blip r:embed="rId7">
              <a:alphaModFix/>
            </a:blip>
            <a:srcRect b="5536" l="0" r="31954" t="5035"/>
            <a:stretch/>
          </p:blipFill>
          <p:spPr>
            <a:xfrm>
              <a:off x="6957475" y="2791851"/>
              <a:ext cx="1805101" cy="1779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39"/>
            <p:cNvSpPr txBox="1"/>
            <p:nvPr/>
          </p:nvSpPr>
          <p:spPr>
            <a:xfrm>
              <a:off x="3119652" y="2593050"/>
              <a:ext cx="1927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Anything (but Country)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8" name="Google Shape;258;p39"/>
            <p:cNvSpPr txBox="1"/>
            <p:nvPr/>
          </p:nvSpPr>
          <p:spPr>
            <a:xfrm>
              <a:off x="5159883" y="2593050"/>
              <a:ext cx="20847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Anything (but Heavy Metal)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9" name="Google Shape;259;p39"/>
            <p:cNvSpPr txBox="1"/>
            <p:nvPr/>
          </p:nvSpPr>
          <p:spPr>
            <a:xfrm>
              <a:off x="3119548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Contempo-Traditional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0" name="Google Shape;260;p39"/>
            <p:cNvSpPr txBox="1"/>
            <p:nvPr/>
          </p:nvSpPr>
          <p:spPr>
            <a:xfrm>
              <a:off x="5113373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Omnivore-Univore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1" name="Google Shape;261;p39"/>
            <p:cNvSpPr txBox="1"/>
            <p:nvPr/>
          </p:nvSpPr>
          <p:spPr>
            <a:xfrm>
              <a:off x="7200200" y="4521075"/>
              <a:ext cx="15174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High-Low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2" name="Google Shape;262;p39"/>
          <p:cNvGrpSpPr/>
          <p:nvPr/>
        </p:nvGrpSpPr>
        <p:grpSpPr>
          <a:xfrm>
            <a:off x="7070025" y="1260425"/>
            <a:ext cx="1580100" cy="936525"/>
            <a:chOff x="6897950" y="686525"/>
            <a:chExt cx="1580100" cy="936525"/>
          </a:xfrm>
        </p:grpSpPr>
        <p:sp>
          <p:nvSpPr>
            <p:cNvPr id="263" name="Google Shape;263;p39"/>
            <p:cNvSpPr/>
            <p:nvPr/>
          </p:nvSpPr>
          <p:spPr>
            <a:xfrm>
              <a:off x="6897950" y="686525"/>
              <a:ext cx="228900" cy="185100"/>
            </a:xfrm>
            <a:prstGeom prst="rect">
              <a:avLst/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9"/>
            <p:cNvSpPr/>
            <p:nvPr/>
          </p:nvSpPr>
          <p:spPr>
            <a:xfrm>
              <a:off x="6897950" y="937000"/>
              <a:ext cx="228900" cy="185100"/>
            </a:xfrm>
            <a:prstGeom prst="rect">
              <a:avLst/>
            </a:prstGeom>
            <a:solidFill>
              <a:srgbClr val="50BB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9"/>
            <p:cNvSpPr/>
            <p:nvPr/>
          </p:nvSpPr>
          <p:spPr>
            <a:xfrm>
              <a:off x="6897950" y="1187475"/>
              <a:ext cx="228900" cy="185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9"/>
            <p:cNvSpPr/>
            <p:nvPr/>
          </p:nvSpPr>
          <p:spPr>
            <a:xfrm>
              <a:off x="6897950" y="1437950"/>
              <a:ext cx="228900" cy="185100"/>
            </a:xfrm>
            <a:prstGeom prst="rect">
              <a:avLst/>
            </a:prstGeom>
            <a:solidFill>
              <a:srgbClr val="B0A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9"/>
            <p:cNvSpPr txBox="1"/>
            <p:nvPr/>
          </p:nvSpPr>
          <p:spPr>
            <a:xfrm>
              <a:off x="7126850" y="68652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8" name="Google Shape;268;p39"/>
            <p:cNvSpPr txBox="1"/>
            <p:nvPr/>
          </p:nvSpPr>
          <p:spPr>
            <a:xfrm>
              <a:off x="7126850" y="93700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Rock-Pop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9" name="Google Shape;269;p39"/>
            <p:cNvSpPr txBox="1"/>
            <p:nvPr/>
          </p:nvSpPr>
          <p:spPr>
            <a:xfrm>
              <a:off x="7126850" y="118747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Afro-Pop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0" name="Google Shape;270;p39"/>
            <p:cNvSpPr txBox="1"/>
            <p:nvPr/>
          </p:nvSpPr>
          <p:spPr>
            <a:xfrm>
              <a:off x="7126850" y="143795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Artistic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311700" y="1399400"/>
            <a:ext cx="2808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Avant-Garde Clumpers: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Perceive Strong Evaluative Linkages Between Artistic and Afro-Pop Genres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Decouple their judgment of these genres from those of Rock-Pop and Folk Genres (Esp. Country and Hip Hop)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Folksy Clumpers: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Tend to make strong local evaluative linkages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beyond not much organization to the schema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Decouple Country from the rest of their judgments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40"/>
          <p:cNvGrpSpPr/>
          <p:nvPr/>
        </p:nvGrpSpPr>
        <p:grpSpPr>
          <a:xfrm>
            <a:off x="3119598" y="693437"/>
            <a:ext cx="5598052" cy="3967188"/>
            <a:chOff x="3119548" y="796587"/>
            <a:chExt cx="5598052" cy="3967188"/>
          </a:xfrm>
        </p:grpSpPr>
        <p:pic>
          <p:nvPicPr>
            <p:cNvPr descr="taste-corrnet-class1.png" id="278" name="Google Shape;278;p40"/>
            <p:cNvPicPr preferRelativeResize="0"/>
            <p:nvPr/>
          </p:nvPicPr>
          <p:blipFill rotWithShape="1">
            <a:blip r:embed="rId3">
              <a:alphaModFix/>
            </a:blip>
            <a:srcRect b="0" l="0" r="32651" t="6059"/>
            <a:stretch/>
          </p:blipFill>
          <p:spPr>
            <a:xfrm>
              <a:off x="3119700" y="796587"/>
              <a:ext cx="1741077" cy="186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2.png" id="279" name="Google Shape;279;p40"/>
            <p:cNvPicPr preferRelativeResize="0"/>
            <p:nvPr/>
          </p:nvPicPr>
          <p:blipFill rotWithShape="1">
            <a:blip r:embed="rId4">
              <a:alphaModFix/>
            </a:blip>
            <a:srcRect b="4796" l="0" r="30877" t="6062"/>
            <a:stretch/>
          </p:blipFill>
          <p:spPr>
            <a:xfrm>
              <a:off x="5120864" y="836182"/>
              <a:ext cx="1883110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3.png" id="280" name="Google Shape;280;p40"/>
            <p:cNvPicPr preferRelativeResize="0"/>
            <p:nvPr/>
          </p:nvPicPr>
          <p:blipFill rotWithShape="1">
            <a:blip r:embed="rId5">
              <a:alphaModFix/>
            </a:blip>
            <a:srcRect b="3618" l="0" r="31764" t="4563"/>
            <a:stretch/>
          </p:blipFill>
          <p:spPr>
            <a:xfrm>
              <a:off x="3119700" y="2743303"/>
              <a:ext cx="1804951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4.png" id="281" name="Google Shape;281;p40"/>
            <p:cNvPicPr preferRelativeResize="0"/>
            <p:nvPr/>
          </p:nvPicPr>
          <p:blipFill rotWithShape="1">
            <a:blip r:embed="rId6">
              <a:alphaModFix/>
            </a:blip>
            <a:srcRect b="2945" l="0" r="23722" t="5864"/>
            <a:stretch/>
          </p:blipFill>
          <p:spPr>
            <a:xfrm>
              <a:off x="5046752" y="2835760"/>
              <a:ext cx="2031337" cy="1867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40"/>
            <p:cNvSpPr txBox="1"/>
            <p:nvPr/>
          </p:nvSpPr>
          <p:spPr>
            <a:xfrm>
              <a:off x="3119638" y="2593050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Avant-Garde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3" name="Google Shape;283;p40"/>
            <p:cNvSpPr txBox="1"/>
            <p:nvPr/>
          </p:nvSpPr>
          <p:spPr>
            <a:xfrm>
              <a:off x="5159863" y="2593050"/>
              <a:ext cx="12744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Folksy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40"/>
            <p:cNvSpPr txBox="1"/>
            <p:nvPr/>
          </p:nvSpPr>
          <p:spPr>
            <a:xfrm>
              <a:off x="3119548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Generational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5" name="Google Shape;285;p40"/>
            <p:cNvSpPr txBox="1"/>
            <p:nvPr/>
          </p:nvSpPr>
          <p:spPr>
            <a:xfrm>
              <a:off x="5113373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Multicultural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6" name="Google Shape;286;p40"/>
            <p:cNvSpPr txBox="1"/>
            <p:nvPr/>
          </p:nvSpPr>
          <p:spPr>
            <a:xfrm>
              <a:off x="6976400" y="4521075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Conventional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taste-corrnet-class5.png" id="287" name="Google Shape;287;p40"/>
          <p:cNvPicPr preferRelativeResize="0"/>
          <p:nvPr/>
        </p:nvPicPr>
        <p:blipFill rotWithShape="1">
          <a:blip r:embed="rId7">
            <a:alphaModFix/>
          </a:blip>
          <a:srcRect b="5536" l="0" r="31954" t="5035"/>
          <a:stretch/>
        </p:blipFill>
        <p:spPr>
          <a:xfrm>
            <a:off x="6957525" y="2688701"/>
            <a:ext cx="1805101" cy="1779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40"/>
          <p:cNvGrpSpPr/>
          <p:nvPr/>
        </p:nvGrpSpPr>
        <p:grpSpPr>
          <a:xfrm>
            <a:off x="7070025" y="1260425"/>
            <a:ext cx="1580100" cy="936525"/>
            <a:chOff x="6897950" y="686525"/>
            <a:chExt cx="1580100" cy="936525"/>
          </a:xfrm>
        </p:grpSpPr>
        <p:sp>
          <p:nvSpPr>
            <p:cNvPr id="289" name="Google Shape;289;p40"/>
            <p:cNvSpPr/>
            <p:nvPr/>
          </p:nvSpPr>
          <p:spPr>
            <a:xfrm>
              <a:off x="6897950" y="686525"/>
              <a:ext cx="228900" cy="185100"/>
            </a:xfrm>
            <a:prstGeom prst="rect">
              <a:avLst/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0"/>
            <p:cNvSpPr/>
            <p:nvPr/>
          </p:nvSpPr>
          <p:spPr>
            <a:xfrm>
              <a:off x="6897950" y="937000"/>
              <a:ext cx="228900" cy="185100"/>
            </a:xfrm>
            <a:prstGeom prst="rect">
              <a:avLst/>
            </a:prstGeom>
            <a:solidFill>
              <a:srgbClr val="50BB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/>
            <p:nvPr/>
          </p:nvSpPr>
          <p:spPr>
            <a:xfrm>
              <a:off x="6897950" y="1187475"/>
              <a:ext cx="228900" cy="185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6897950" y="1437950"/>
              <a:ext cx="228900" cy="185100"/>
            </a:xfrm>
            <a:prstGeom prst="rect">
              <a:avLst/>
            </a:prstGeom>
            <a:solidFill>
              <a:srgbClr val="B0A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 txBox="1"/>
            <p:nvPr/>
          </p:nvSpPr>
          <p:spPr>
            <a:xfrm>
              <a:off x="7126850" y="68652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4" name="Google Shape;294;p40"/>
            <p:cNvSpPr txBox="1"/>
            <p:nvPr/>
          </p:nvSpPr>
          <p:spPr>
            <a:xfrm>
              <a:off x="7126850" y="93700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Rock-Pop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5" name="Google Shape;295;p40"/>
            <p:cNvSpPr txBox="1"/>
            <p:nvPr/>
          </p:nvSpPr>
          <p:spPr>
            <a:xfrm>
              <a:off x="7126850" y="118747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Afro-Pop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6" name="Google Shape;296;p40"/>
            <p:cNvSpPr txBox="1"/>
            <p:nvPr/>
          </p:nvSpPr>
          <p:spPr>
            <a:xfrm>
              <a:off x="7126850" y="143795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Artistic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311700" y="1399400"/>
            <a:ext cx="2808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Generational Splitters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Evaluative Link all “Pop” Genres from and all “Artistic” genres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with opposite valence across the divide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Folk Genres don’t have a strong evaluative fit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Multicultural Clumpers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Link all  “Pop” (Afro and Rock) and “Artistic” styles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decouple these from their judgment of Folk genres, Heavy Metal and Gospel</a:t>
            </a:r>
            <a:endParaRPr/>
          </a:p>
        </p:txBody>
      </p:sp>
      <p:grpSp>
        <p:nvGrpSpPr>
          <p:cNvPr id="303" name="Google Shape;303;p41"/>
          <p:cNvGrpSpPr/>
          <p:nvPr/>
        </p:nvGrpSpPr>
        <p:grpSpPr>
          <a:xfrm>
            <a:off x="3119598" y="693437"/>
            <a:ext cx="5598052" cy="3967188"/>
            <a:chOff x="3119548" y="796587"/>
            <a:chExt cx="5598052" cy="3967188"/>
          </a:xfrm>
        </p:grpSpPr>
        <p:pic>
          <p:nvPicPr>
            <p:cNvPr descr="taste-corrnet-class1.png" id="304" name="Google Shape;304;p41"/>
            <p:cNvPicPr preferRelativeResize="0"/>
            <p:nvPr/>
          </p:nvPicPr>
          <p:blipFill rotWithShape="1">
            <a:blip r:embed="rId3">
              <a:alphaModFix/>
            </a:blip>
            <a:srcRect b="0" l="0" r="32651" t="6059"/>
            <a:stretch/>
          </p:blipFill>
          <p:spPr>
            <a:xfrm>
              <a:off x="3119700" y="796587"/>
              <a:ext cx="1741077" cy="186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2.png" id="305" name="Google Shape;305;p41"/>
            <p:cNvPicPr preferRelativeResize="0"/>
            <p:nvPr/>
          </p:nvPicPr>
          <p:blipFill rotWithShape="1">
            <a:blip r:embed="rId4">
              <a:alphaModFix/>
            </a:blip>
            <a:srcRect b="4796" l="0" r="30877" t="6062"/>
            <a:stretch/>
          </p:blipFill>
          <p:spPr>
            <a:xfrm>
              <a:off x="5120864" y="836182"/>
              <a:ext cx="1883110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3.png" id="306" name="Google Shape;306;p41"/>
            <p:cNvPicPr preferRelativeResize="0"/>
            <p:nvPr/>
          </p:nvPicPr>
          <p:blipFill rotWithShape="1">
            <a:blip r:embed="rId5">
              <a:alphaModFix/>
            </a:blip>
            <a:srcRect b="3618" l="0" r="31764" t="4563"/>
            <a:stretch/>
          </p:blipFill>
          <p:spPr>
            <a:xfrm>
              <a:off x="3119700" y="2743303"/>
              <a:ext cx="1804951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4.png" id="307" name="Google Shape;307;p41"/>
            <p:cNvPicPr preferRelativeResize="0"/>
            <p:nvPr/>
          </p:nvPicPr>
          <p:blipFill rotWithShape="1">
            <a:blip r:embed="rId6">
              <a:alphaModFix/>
            </a:blip>
            <a:srcRect b="2945" l="0" r="23722" t="5864"/>
            <a:stretch/>
          </p:blipFill>
          <p:spPr>
            <a:xfrm>
              <a:off x="5046752" y="2835760"/>
              <a:ext cx="2031337" cy="1867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41"/>
            <p:cNvSpPr txBox="1"/>
            <p:nvPr/>
          </p:nvSpPr>
          <p:spPr>
            <a:xfrm>
              <a:off x="3119638" y="2593050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Avant-Garde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9" name="Google Shape;309;p41"/>
            <p:cNvSpPr txBox="1"/>
            <p:nvPr/>
          </p:nvSpPr>
          <p:spPr>
            <a:xfrm>
              <a:off x="5159863" y="2593050"/>
              <a:ext cx="12744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Folksy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0" name="Google Shape;310;p41"/>
            <p:cNvSpPr txBox="1"/>
            <p:nvPr/>
          </p:nvSpPr>
          <p:spPr>
            <a:xfrm>
              <a:off x="3119548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Generational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1" name="Google Shape;311;p41"/>
            <p:cNvSpPr txBox="1"/>
            <p:nvPr/>
          </p:nvSpPr>
          <p:spPr>
            <a:xfrm>
              <a:off x="5113373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Multicultural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12" name="Google Shape;312;p41"/>
            <p:cNvSpPr txBox="1"/>
            <p:nvPr/>
          </p:nvSpPr>
          <p:spPr>
            <a:xfrm>
              <a:off x="6976400" y="4521075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Conventional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taste-corrnet-class5.png" id="313" name="Google Shape;313;p41"/>
          <p:cNvPicPr preferRelativeResize="0"/>
          <p:nvPr/>
        </p:nvPicPr>
        <p:blipFill rotWithShape="1">
          <a:blip r:embed="rId7">
            <a:alphaModFix/>
          </a:blip>
          <a:srcRect b="5536" l="0" r="31954" t="5035"/>
          <a:stretch/>
        </p:blipFill>
        <p:spPr>
          <a:xfrm>
            <a:off x="6957525" y="2688701"/>
            <a:ext cx="1805101" cy="1779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41"/>
          <p:cNvGrpSpPr/>
          <p:nvPr/>
        </p:nvGrpSpPr>
        <p:grpSpPr>
          <a:xfrm>
            <a:off x="7070025" y="1260425"/>
            <a:ext cx="1580100" cy="936525"/>
            <a:chOff x="6897950" y="686525"/>
            <a:chExt cx="1580100" cy="936525"/>
          </a:xfrm>
        </p:grpSpPr>
        <p:sp>
          <p:nvSpPr>
            <p:cNvPr id="315" name="Google Shape;315;p41"/>
            <p:cNvSpPr/>
            <p:nvPr/>
          </p:nvSpPr>
          <p:spPr>
            <a:xfrm>
              <a:off x="6897950" y="686525"/>
              <a:ext cx="228900" cy="185100"/>
            </a:xfrm>
            <a:prstGeom prst="rect">
              <a:avLst/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1"/>
            <p:cNvSpPr/>
            <p:nvPr/>
          </p:nvSpPr>
          <p:spPr>
            <a:xfrm>
              <a:off x="6897950" y="937000"/>
              <a:ext cx="228900" cy="185100"/>
            </a:xfrm>
            <a:prstGeom prst="rect">
              <a:avLst/>
            </a:prstGeom>
            <a:solidFill>
              <a:srgbClr val="50BB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1"/>
            <p:cNvSpPr/>
            <p:nvPr/>
          </p:nvSpPr>
          <p:spPr>
            <a:xfrm>
              <a:off x="6897950" y="1187475"/>
              <a:ext cx="228900" cy="185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1"/>
            <p:cNvSpPr/>
            <p:nvPr/>
          </p:nvSpPr>
          <p:spPr>
            <a:xfrm>
              <a:off x="6897950" y="1437950"/>
              <a:ext cx="228900" cy="185100"/>
            </a:xfrm>
            <a:prstGeom prst="rect">
              <a:avLst/>
            </a:prstGeom>
            <a:solidFill>
              <a:srgbClr val="B0A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1"/>
            <p:cNvSpPr txBox="1"/>
            <p:nvPr/>
          </p:nvSpPr>
          <p:spPr>
            <a:xfrm>
              <a:off x="7126850" y="68652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0" name="Google Shape;320;p41"/>
            <p:cNvSpPr txBox="1"/>
            <p:nvPr/>
          </p:nvSpPr>
          <p:spPr>
            <a:xfrm>
              <a:off x="7126850" y="93700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Rock-Pop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1" name="Google Shape;321;p41"/>
            <p:cNvSpPr txBox="1"/>
            <p:nvPr/>
          </p:nvSpPr>
          <p:spPr>
            <a:xfrm>
              <a:off x="7126850" y="118747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Afro-Pop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22" name="Google Shape;322;p41"/>
            <p:cNvSpPr txBox="1"/>
            <p:nvPr/>
          </p:nvSpPr>
          <p:spPr>
            <a:xfrm>
              <a:off x="7126850" y="143795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Artistic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311700" y="1399400"/>
            <a:ext cx="28080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Conventional</a:t>
            </a:r>
            <a:r>
              <a:rPr b="1" lang="en"/>
              <a:t> Splitters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Organize their evaluative judgment according to a (conventional) tripartite logic: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Rock, Artistic, Folk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But evaluative couple “classic/rock/Oldies” with artistic genres and oppose it to more contemporary Pop genres</a:t>
            </a:r>
            <a:endParaRPr/>
          </a:p>
        </p:txBody>
      </p:sp>
      <p:grpSp>
        <p:nvGrpSpPr>
          <p:cNvPr id="329" name="Google Shape;329;p42"/>
          <p:cNvGrpSpPr/>
          <p:nvPr/>
        </p:nvGrpSpPr>
        <p:grpSpPr>
          <a:xfrm>
            <a:off x="3119598" y="693437"/>
            <a:ext cx="5598052" cy="3967188"/>
            <a:chOff x="3119548" y="796587"/>
            <a:chExt cx="5598052" cy="3967188"/>
          </a:xfrm>
        </p:grpSpPr>
        <p:pic>
          <p:nvPicPr>
            <p:cNvPr descr="taste-corrnet-class1.png" id="330" name="Google Shape;330;p42"/>
            <p:cNvPicPr preferRelativeResize="0"/>
            <p:nvPr/>
          </p:nvPicPr>
          <p:blipFill rotWithShape="1">
            <a:blip r:embed="rId3">
              <a:alphaModFix/>
            </a:blip>
            <a:srcRect b="0" l="0" r="32651" t="6059"/>
            <a:stretch/>
          </p:blipFill>
          <p:spPr>
            <a:xfrm>
              <a:off x="3119700" y="796587"/>
              <a:ext cx="1741077" cy="186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2.png" id="331" name="Google Shape;331;p42"/>
            <p:cNvPicPr preferRelativeResize="0"/>
            <p:nvPr/>
          </p:nvPicPr>
          <p:blipFill rotWithShape="1">
            <a:blip r:embed="rId4">
              <a:alphaModFix/>
            </a:blip>
            <a:srcRect b="4796" l="0" r="30877" t="6062"/>
            <a:stretch/>
          </p:blipFill>
          <p:spPr>
            <a:xfrm>
              <a:off x="5120864" y="836182"/>
              <a:ext cx="1883110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3.png" id="332" name="Google Shape;332;p42"/>
            <p:cNvPicPr preferRelativeResize="0"/>
            <p:nvPr/>
          </p:nvPicPr>
          <p:blipFill rotWithShape="1">
            <a:blip r:embed="rId5">
              <a:alphaModFix/>
            </a:blip>
            <a:srcRect b="3618" l="0" r="31764" t="4563"/>
            <a:stretch/>
          </p:blipFill>
          <p:spPr>
            <a:xfrm>
              <a:off x="3119700" y="2743303"/>
              <a:ext cx="1804951" cy="1867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aste-corrnet-class4.png" id="333" name="Google Shape;333;p42"/>
            <p:cNvPicPr preferRelativeResize="0"/>
            <p:nvPr/>
          </p:nvPicPr>
          <p:blipFill rotWithShape="1">
            <a:blip r:embed="rId6">
              <a:alphaModFix/>
            </a:blip>
            <a:srcRect b="2945" l="0" r="23722" t="5864"/>
            <a:stretch/>
          </p:blipFill>
          <p:spPr>
            <a:xfrm>
              <a:off x="5046752" y="2835760"/>
              <a:ext cx="2031337" cy="1867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42"/>
            <p:cNvSpPr txBox="1"/>
            <p:nvPr/>
          </p:nvSpPr>
          <p:spPr>
            <a:xfrm>
              <a:off x="3119638" y="2593050"/>
              <a:ext cx="1741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Avant-Garde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5" name="Google Shape;335;p42"/>
            <p:cNvSpPr txBox="1"/>
            <p:nvPr/>
          </p:nvSpPr>
          <p:spPr>
            <a:xfrm>
              <a:off x="5159863" y="2593050"/>
              <a:ext cx="12744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Folksy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6" name="Google Shape;336;p42"/>
            <p:cNvSpPr txBox="1"/>
            <p:nvPr/>
          </p:nvSpPr>
          <p:spPr>
            <a:xfrm>
              <a:off x="3119548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Generational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7" name="Google Shape;337;p42"/>
            <p:cNvSpPr txBox="1"/>
            <p:nvPr/>
          </p:nvSpPr>
          <p:spPr>
            <a:xfrm>
              <a:off x="5113373" y="4521075"/>
              <a:ext cx="1805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Multicultural Clumper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8" name="Google Shape;338;p42"/>
            <p:cNvSpPr txBox="1"/>
            <p:nvPr/>
          </p:nvSpPr>
          <p:spPr>
            <a:xfrm>
              <a:off x="6834500" y="4521075"/>
              <a:ext cx="18831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Conventional</a:t>
              </a:r>
              <a:r>
                <a:rPr b="1" lang="en" sz="1200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  Splitter</a:t>
              </a:r>
              <a:endParaRPr b="1" sz="12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taste-corrnet-class5.png" id="339" name="Google Shape;339;p42"/>
          <p:cNvPicPr preferRelativeResize="0"/>
          <p:nvPr/>
        </p:nvPicPr>
        <p:blipFill rotWithShape="1">
          <a:blip r:embed="rId7">
            <a:alphaModFix/>
          </a:blip>
          <a:srcRect b="5536" l="0" r="31954" t="5035"/>
          <a:stretch/>
        </p:blipFill>
        <p:spPr>
          <a:xfrm>
            <a:off x="6957525" y="2688701"/>
            <a:ext cx="1805101" cy="17793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42"/>
          <p:cNvGrpSpPr/>
          <p:nvPr/>
        </p:nvGrpSpPr>
        <p:grpSpPr>
          <a:xfrm>
            <a:off x="7070025" y="1260425"/>
            <a:ext cx="1580100" cy="936525"/>
            <a:chOff x="6897950" y="686525"/>
            <a:chExt cx="1580100" cy="936525"/>
          </a:xfrm>
        </p:grpSpPr>
        <p:sp>
          <p:nvSpPr>
            <p:cNvPr id="341" name="Google Shape;341;p42"/>
            <p:cNvSpPr/>
            <p:nvPr/>
          </p:nvSpPr>
          <p:spPr>
            <a:xfrm>
              <a:off x="6897950" y="686525"/>
              <a:ext cx="228900" cy="185100"/>
            </a:xfrm>
            <a:prstGeom prst="rect">
              <a:avLst/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6897950" y="937000"/>
              <a:ext cx="228900" cy="185100"/>
            </a:xfrm>
            <a:prstGeom prst="rect">
              <a:avLst/>
            </a:prstGeom>
            <a:solidFill>
              <a:srgbClr val="50BB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6897950" y="1187475"/>
              <a:ext cx="228900" cy="1851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6897950" y="1437950"/>
              <a:ext cx="228900" cy="185100"/>
            </a:xfrm>
            <a:prstGeom prst="rect">
              <a:avLst/>
            </a:prstGeom>
            <a:solidFill>
              <a:srgbClr val="B0A5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2"/>
            <p:cNvSpPr txBox="1"/>
            <p:nvPr/>
          </p:nvSpPr>
          <p:spPr>
            <a:xfrm>
              <a:off x="7126850" y="68652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Folk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6" name="Google Shape;346;p42"/>
            <p:cNvSpPr txBox="1"/>
            <p:nvPr/>
          </p:nvSpPr>
          <p:spPr>
            <a:xfrm>
              <a:off x="7126850" y="93700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Rock-Pop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7" name="Google Shape;347;p42"/>
            <p:cNvSpPr txBox="1"/>
            <p:nvPr/>
          </p:nvSpPr>
          <p:spPr>
            <a:xfrm>
              <a:off x="7126850" y="1187475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Afro-Pop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48" name="Google Shape;348;p42"/>
            <p:cNvSpPr txBox="1"/>
            <p:nvPr/>
          </p:nvSpPr>
          <p:spPr>
            <a:xfrm>
              <a:off x="7126850" y="1437950"/>
              <a:ext cx="1351200" cy="1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666666"/>
                  </a:solidFill>
                  <a:latin typeface="Lato"/>
                  <a:ea typeface="Lato"/>
                  <a:cs typeface="Lato"/>
                  <a:sym typeface="Lato"/>
                </a:rPr>
                <a:t>Artistic</a:t>
              </a:r>
              <a:endParaRPr b="1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there omnivores and univores in every class?</a:t>
            </a:r>
            <a:endParaRPr/>
          </a:p>
        </p:txBody>
      </p:sp>
      <p:sp>
        <p:nvSpPr>
          <p:cNvPr id="354" name="Google Shape;354;p4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All schematic classes have some behavioral potential for omnivorousness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Hence a mistake to label any one of them “omnivore/univore”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mnivore-by-schematic-class.png"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950" y="579325"/>
            <a:ext cx="5719502" cy="428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mnivore-by-schematic-class.png" id="360" name="Google Shape;3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950" y="579325"/>
            <a:ext cx="5719502" cy="42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there omnivores and univores in every class?</a:t>
            </a:r>
            <a:endParaRPr/>
          </a:p>
        </p:txBody>
      </p:sp>
      <p:sp>
        <p:nvSpPr>
          <p:cNvPr id="362" name="Google Shape;362;p4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classes display less behavioral potential for omnivorousness: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Traditionals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Avant-Gardes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Folksy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classes seem to be more disposed: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Generational Splitters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Multicultural Clmpers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4"/>
          <p:cNvSpPr/>
          <p:nvPr/>
        </p:nvSpPr>
        <p:spPr>
          <a:xfrm>
            <a:off x="7372675" y="2985750"/>
            <a:ext cx="463200" cy="97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64" name="Google Shape;364;p44"/>
          <p:cNvSpPr/>
          <p:nvPr/>
        </p:nvSpPr>
        <p:spPr>
          <a:xfrm>
            <a:off x="8509375" y="3206300"/>
            <a:ext cx="463200" cy="97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Window into the Omnivore Listening choices of each class</a:t>
            </a:r>
            <a:endParaRPr/>
          </a:p>
        </p:txBody>
      </p:sp>
      <p:sp>
        <p:nvSpPr>
          <p:cNvPr id="370" name="Google Shape;370;p45"/>
          <p:cNvSpPr txBox="1"/>
          <p:nvPr>
            <p:ph idx="1" type="body"/>
          </p:nvPr>
        </p:nvSpPr>
        <p:spPr>
          <a:xfrm>
            <a:off x="311700" y="1399400"/>
            <a:ext cx="2808000" cy="3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Plotting the probability of listening to each genre by the number of genres listened to (x-axis) by schematic class reveals that different genres have different change of: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Being into the omnivore consumption pattern of each class</a:t>
            </a:r>
            <a:endParaRPr b="1"/>
          </a:p>
        </p:txBody>
      </p:sp>
      <p:pic>
        <p:nvPicPr>
          <p:cNvPr descr="listening-by-schematic-class-and-omni.png" id="371" name="Google Shape;3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426938"/>
            <a:ext cx="5719502" cy="428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Window into the Omnivore Listening choices of each class</a:t>
            </a:r>
            <a:endParaRPr/>
          </a:p>
        </p:txBody>
      </p:sp>
      <p:sp>
        <p:nvSpPr>
          <p:cNvPr id="377" name="Google Shape;377;p46"/>
          <p:cNvSpPr txBox="1"/>
          <p:nvPr>
            <p:ph idx="1" type="body"/>
          </p:nvPr>
        </p:nvSpPr>
        <p:spPr>
          <a:xfrm>
            <a:off x="311700" y="1399400"/>
            <a:ext cx="2808000" cy="3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Plotting the probability of listening to each genre by the number of genres listened to (x-axis) by schematic class reveals that different genres have different change of: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Being into the omnivore consumption pattern of each class</a:t>
            </a:r>
            <a:endParaRPr b="1"/>
          </a:p>
        </p:txBody>
      </p:sp>
      <p:pic>
        <p:nvPicPr>
          <p:cNvPr descr="listening-by-schematic-class-and-omni.png" id="378" name="Google Shape;3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426938"/>
            <a:ext cx="5719502" cy="42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6"/>
          <p:cNvSpPr/>
          <p:nvPr/>
        </p:nvSpPr>
        <p:spPr>
          <a:xfrm>
            <a:off x="4410100" y="467075"/>
            <a:ext cx="231600" cy="392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6"/>
          <p:cNvSpPr/>
          <p:nvPr/>
        </p:nvSpPr>
        <p:spPr>
          <a:xfrm>
            <a:off x="5488750" y="467075"/>
            <a:ext cx="231600" cy="392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6"/>
          <p:cNvSpPr/>
          <p:nvPr/>
        </p:nvSpPr>
        <p:spPr>
          <a:xfrm>
            <a:off x="6567550" y="467075"/>
            <a:ext cx="231600" cy="392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6"/>
          <p:cNvSpPr/>
          <p:nvPr/>
        </p:nvSpPr>
        <p:spPr>
          <a:xfrm>
            <a:off x="7646350" y="467075"/>
            <a:ext cx="231600" cy="392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6"/>
          <p:cNvSpPr/>
          <p:nvPr/>
        </p:nvSpPr>
        <p:spPr>
          <a:xfrm>
            <a:off x="8725150" y="467075"/>
            <a:ext cx="231600" cy="392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Window into the Omnivore Listening choices of each class</a:t>
            </a:r>
            <a:endParaRPr/>
          </a:p>
        </p:txBody>
      </p:sp>
      <p:sp>
        <p:nvSpPr>
          <p:cNvPr id="389" name="Google Shape;389;p47"/>
          <p:cNvSpPr txBox="1"/>
          <p:nvPr>
            <p:ph idx="1" type="body"/>
          </p:nvPr>
        </p:nvSpPr>
        <p:spPr>
          <a:xfrm>
            <a:off x="311700" y="1399400"/>
            <a:ext cx="2808000" cy="3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Each schematic class displays a distinct behavioral potential for </a:t>
            </a:r>
            <a:r>
              <a:rPr b="1" lang="en"/>
              <a:t>Omnivorousness</a:t>
            </a:r>
            <a:r>
              <a:rPr lang="en"/>
              <a:t>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Avant-Gardes:</a:t>
            </a:r>
            <a:endParaRPr b="1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</a:pPr>
            <a:r>
              <a:rPr b="1" lang="en">
                <a:solidFill>
                  <a:srgbClr val="9900FF"/>
                </a:solidFill>
              </a:rPr>
              <a:t>Bluegrass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Folk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Metal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Alt-Rock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Classical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Cont-Rock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Pop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Classic-Rock</a:t>
            </a:r>
            <a:endParaRPr b="1">
              <a:solidFill>
                <a:srgbClr val="50BBAB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1" lang="en"/>
              <a:t>Folksies:</a:t>
            </a:r>
            <a:endParaRPr b="1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9900FF"/>
                </a:solidFill>
              </a:rPr>
              <a:t>Folk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Big Band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Gospel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Latin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Musicals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Jazz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Classical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Cont-Rock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Easy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Country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Pop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Classic-Rock</a:t>
            </a:r>
            <a:endParaRPr b="1">
              <a:solidFill>
                <a:srgbClr val="50BBAB"/>
              </a:solidFill>
            </a:endParaRPr>
          </a:p>
        </p:txBody>
      </p:sp>
      <p:pic>
        <p:nvPicPr>
          <p:cNvPr descr="listening-by-schematic-class-omnivores.png" id="390" name="Google Shape;3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Window into the Omnivore Listening choices of each class</a:t>
            </a:r>
            <a:endParaRPr/>
          </a:p>
        </p:txBody>
      </p:sp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311700" y="1399400"/>
            <a:ext cx="2808000" cy="3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Each schematic class displays a distinct behavioral </a:t>
            </a:r>
            <a:r>
              <a:rPr lang="en"/>
              <a:t>potential</a:t>
            </a:r>
            <a:r>
              <a:rPr lang="en"/>
              <a:t> for </a:t>
            </a:r>
            <a:r>
              <a:rPr b="1" lang="en"/>
              <a:t>Omnivorousness</a:t>
            </a:r>
            <a:r>
              <a:rPr lang="en"/>
              <a:t>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Generationals: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E06666"/>
                </a:solidFill>
              </a:rPr>
              <a:t>Reggae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Metal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Alt-Rock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Dance/Techno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Hip Hop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Cont-Rock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Blues/R&amp;B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Country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Pop</a:t>
            </a:r>
            <a:endParaRPr b="1">
              <a:solidFill>
                <a:srgbClr val="99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Multiculturals: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E06666"/>
                </a:solidFill>
              </a:rPr>
              <a:t>Reggae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Gospel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Latin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Dance/Techno</a:t>
            </a:r>
            <a:r>
              <a:rPr b="1" lang="en"/>
              <a:t>,</a:t>
            </a:r>
            <a:r>
              <a:rPr b="1" lang="en">
                <a:solidFill>
                  <a:srgbClr val="E06666"/>
                </a:solidFill>
              </a:rPr>
              <a:t> Hip Hop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Jazz</a:t>
            </a:r>
            <a:r>
              <a:rPr b="1" lang="en"/>
              <a:t>, </a:t>
            </a:r>
            <a:r>
              <a:rPr b="1" lang="en">
                <a:solidFill>
                  <a:srgbClr val="E06666"/>
                </a:solidFill>
              </a:rPr>
              <a:t>Blues/R&amp;B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Easy</a:t>
            </a:r>
            <a:r>
              <a:rPr b="1" lang="en"/>
              <a:t>, </a:t>
            </a:r>
            <a:r>
              <a:rPr b="1" lang="en">
                <a:solidFill>
                  <a:srgbClr val="50BBAB"/>
                </a:solidFill>
              </a:rPr>
              <a:t>Pop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stening-by-schematic-class-omnivores.png"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stening-by-schematic-class-omnivores.png" id="402" name="Google Shape;4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Window into the Omnivore Listening choices of each class</a:t>
            </a:r>
            <a:endParaRPr/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311700" y="1399400"/>
            <a:ext cx="28080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Each schematic class displays a distinct behavioral potential for Omnivorousness: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Traditionals: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B0A52B"/>
                </a:solidFill>
              </a:rPr>
              <a:t>Opera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Bluegrass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Folk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Big Band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Gospel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Musicals, Jazz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Classical</a:t>
            </a:r>
            <a:r>
              <a:rPr b="1" lang="en"/>
              <a:t>, </a:t>
            </a:r>
            <a:r>
              <a:rPr b="1" lang="en">
                <a:solidFill>
                  <a:srgbClr val="B0A52B"/>
                </a:solidFill>
              </a:rPr>
              <a:t>Easy</a:t>
            </a:r>
            <a:r>
              <a:rPr b="1" lang="en"/>
              <a:t>, </a:t>
            </a:r>
            <a:r>
              <a:rPr b="1" lang="en">
                <a:solidFill>
                  <a:srgbClr val="9900FF"/>
                </a:solidFill>
              </a:rPr>
              <a:t>Country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g-by-schematic-class.png" id="409" name="Google Shape;4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Sociodemographic profile of schematic classes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g-by-schematic-class.png" id="415" name="Google Shape;4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Sociodemographic profile of schematic classes</a:t>
            </a:r>
            <a:endParaRPr/>
          </a:p>
        </p:txBody>
      </p:sp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classes skew </a:t>
            </a:r>
            <a:r>
              <a:rPr b="1" lang="en"/>
              <a:t>old</a:t>
            </a:r>
            <a:r>
              <a:rPr lang="en"/>
              <a:t>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Folksy Clumpers</a:t>
            </a:r>
            <a:endParaRPr i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Conventional Clumpers</a:t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skew </a:t>
            </a:r>
            <a:r>
              <a:rPr b="1" lang="en"/>
              <a:t>young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Multicultural Clumpers</a:t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are </a:t>
            </a:r>
            <a:r>
              <a:rPr b="1" lang="en"/>
              <a:t>bimodal</a:t>
            </a:r>
            <a:r>
              <a:rPr lang="en"/>
              <a:t> on age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Generational Splitters</a:t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Some are fairly </a:t>
            </a:r>
            <a:r>
              <a:rPr b="1" lang="en"/>
              <a:t>balanced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Avant-Garde-Clumpers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51"/>
          <p:cNvSpPr/>
          <p:nvPr/>
        </p:nvSpPr>
        <p:spPr>
          <a:xfrm>
            <a:off x="3782825" y="4230600"/>
            <a:ext cx="5211000" cy="55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1"/>
          <p:cNvSpPr/>
          <p:nvPr/>
        </p:nvSpPr>
        <p:spPr>
          <a:xfrm>
            <a:off x="3782825" y="3321500"/>
            <a:ext cx="5211000" cy="48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g-by-schematic-class.png" id="424" name="Google Shape;42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Sociodemographic profile of schematic classes</a:t>
            </a:r>
            <a:endParaRPr/>
          </a:p>
        </p:txBody>
      </p:sp>
      <p:sp>
        <p:nvSpPr>
          <p:cNvPr id="426" name="Google Shape;426;p5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Blacks</a:t>
            </a:r>
            <a:r>
              <a:rPr lang="en"/>
              <a:t> are ext</a:t>
            </a:r>
            <a:r>
              <a:rPr lang="en"/>
              <a:t>remely overrepresented among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Multicultural Clumpers</a:t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Whites</a:t>
            </a:r>
            <a:r>
              <a:rPr lang="en"/>
              <a:t> are overrepresented among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Avant-Garde Clumpers</a:t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Generational</a:t>
            </a:r>
            <a:r>
              <a:rPr lang="en"/>
              <a:t> </a:t>
            </a:r>
            <a:r>
              <a:rPr b="1" lang="en"/>
              <a:t>Splitters</a:t>
            </a:r>
            <a:r>
              <a:rPr lang="en"/>
              <a:t> tend to have a good representation of </a:t>
            </a:r>
            <a:r>
              <a:rPr b="1" lang="en"/>
              <a:t>nonwhites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Nonwhites</a:t>
            </a:r>
            <a:r>
              <a:rPr lang="en"/>
              <a:t> are underrepresented among </a:t>
            </a:r>
            <a:r>
              <a:rPr b="1" lang="en"/>
              <a:t>conventional</a:t>
            </a:r>
            <a:r>
              <a:rPr lang="en"/>
              <a:t> </a:t>
            </a:r>
            <a:r>
              <a:rPr b="1" lang="en"/>
              <a:t>splitters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2"/>
          <p:cNvSpPr/>
          <p:nvPr/>
        </p:nvSpPr>
        <p:spPr>
          <a:xfrm>
            <a:off x="3686325" y="2329500"/>
            <a:ext cx="5211000" cy="48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g-by-schematic-class.png" id="432" name="Google Shape;43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Sociodemographic profile of schematic classes</a:t>
            </a:r>
            <a:endParaRPr/>
          </a:p>
        </p:txBody>
      </p:sp>
      <p:sp>
        <p:nvSpPr>
          <p:cNvPr id="434" name="Google Shape;434;p5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strong structuration of schematic classes by education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Low</a:t>
            </a:r>
            <a:r>
              <a:rPr lang="en"/>
              <a:t> </a:t>
            </a:r>
            <a:r>
              <a:rPr b="1" lang="en"/>
              <a:t>education</a:t>
            </a:r>
            <a:r>
              <a:rPr lang="en"/>
              <a:t> people are </a:t>
            </a:r>
            <a:r>
              <a:rPr b="1" lang="en"/>
              <a:t>underrepresented</a:t>
            </a:r>
            <a:r>
              <a:rPr lang="en"/>
              <a:t> among </a:t>
            </a:r>
            <a:r>
              <a:rPr b="1" lang="en"/>
              <a:t>conventional</a:t>
            </a:r>
            <a:r>
              <a:rPr lang="en"/>
              <a:t> </a:t>
            </a:r>
            <a:r>
              <a:rPr b="1" lang="en"/>
              <a:t>clumpers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But people with the </a:t>
            </a:r>
            <a:r>
              <a:rPr b="1" lang="en"/>
              <a:t>highest</a:t>
            </a:r>
            <a:r>
              <a:rPr lang="en"/>
              <a:t> </a:t>
            </a:r>
            <a:r>
              <a:rPr b="1" lang="en"/>
              <a:t>degree</a:t>
            </a:r>
            <a:r>
              <a:rPr lang="en"/>
              <a:t> are overrepresented in the same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mog-by-schematic-class.png" id="439" name="Google Shape;43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800" y="277800"/>
            <a:ext cx="590027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Sociodemographic profile of schematic classes</a:t>
            </a:r>
            <a:endParaRPr/>
          </a:p>
        </p:txBody>
      </p:sp>
      <p:sp>
        <p:nvSpPr>
          <p:cNvPr id="441" name="Google Shape;441;p5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 strong structuration of schematic classes by education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High</a:t>
            </a:r>
            <a:r>
              <a:rPr lang="en"/>
              <a:t> </a:t>
            </a:r>
            <a:r>
              <a:rPr b="1" lang="en"/>
              <a:t>Education</a:t>
            </a:r>
            <a:r>
              <a:rPr lang="en"/>
              <a:t> people are </a:t>
            </a:r>
            <a:r>
              <a:rPr b="1" lang="en"/>
              <a:t>underrepresented</a:t>
            </a:r>
            <a:r>
              <a:rPr lang="en"/>
              <a:t> among </a:t>
            </a:r>
            <a:r>
              <a:rPr b="1" lang="en"/>
              <a:t>Folksy</a:t>
            </a:r>
            <a:r>
              <a:rPr lang="en"/>
              <a:t> </a:t>
            </a:r>
            <a:r>
              <a:rPr b="1" lang="en"/>
              <a:t>Clumpers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Both </a:t>
            </a:r>
            <a:r>
              <a:rPr b="1" lang="en"/>
              <a:t>Avant-Garde Clumpers</a:t>
            </a:r>
            <a:r>
              <a:rPr lang="en"/>
              <a:t> and </a:t>
            </a:r>
            <a:r>
              <a:rPr b="1" lang="en"/>
              <a:t>Generational</a:t>
            </a:r>
            <a:r>
              <a:rPr lang="en"/>
              <a:t> </a:t>
            </a:r>
            <a:r>
              <a:rPr b="1" lang="en"/>
              <a:t>Splitters</a:t>
            </a:r>
            <a:r>
              <a:rPr lang="en"/>
              <a:t> have a fairly </a:t>
            </a:r>
            <a:r>
              <a:rPr b="1" lang="en"/>
              <a:t>diverse</a:t>
            </a:r>
            <a:r>
              <a:rPr lang="en"/>
              <a:t> distribution across levels of education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47" name="Google Shape;447;p5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all results are consistent with: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(Mostly) continuity over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Surprising consistency with both Goldberg’s  and Boutyline’s results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spite of very different data source collected 19 years later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Consistent with the idea that schematic patterns are durable across time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subject to dramatic transformation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may have increased in diversity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53" name="Google Shape;453;p5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all results are consistent with: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Folksy and Conventional Clumpers being at opposite (in terms of class) ends of an “Traditional” Spectrum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 choice style separated by SES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Avant-Garde and Multicultural Clumpers being opposed to tradition in ways that cross-cut class but are racially coded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Avant-Gardes gravitate towards white-dominated contemporary forms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Multicultural build around Black and Afro-Caribbean forms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59" name="Google Shape;459;p5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all results are consistent with: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Multicultural Clumpers building a form omnivorousness around Black and Afro-Caribbean rhythms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Display strongest potential for omnivorousness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Conventionals using a more traditional highbrow/lowbrow lens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Closest to a High/Low divide (Goldberg 2011)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Folksies hunker around a safer, middlebrow aesthetic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Reject genres based on generational and racial codes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Generationals use a consistent age-based classification gradient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those who gravitate toward the contemporary side become omnivores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65" name="Google Shape;465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some of these patterns are “readable” from schematic oppositions particular to each class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Justifies the separation of schemas and behavior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for the empirical separation of forms of univorousness and omnivorousness within schematic classes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Accounts for demographic diversity within schematic classes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Strange bedfellows effect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Redeems intuition that each class has behavioral potential for different forms of omnivorousness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univorousness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 Comments? Please!</a:t>
            </a:r>
            <a:endParaRPr/>
          </a:p>
        </p:txBody>
      </p:sp>
      <p:sp>
        <p:nvSpPr>
          <p:cNvPr id="471" name="Google Shape;471;p5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olizardo@nd.edu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vorite-by-schematic-class.png" id="476" name="Google Shape;4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675" y="152400"/>
            <a:ext cx="622282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1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482" name="Google Shape;482;p6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Exploring schematic classes via correlation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Nodes</a:t>
            </a:r>
            <a:r>
              <a:rPr lang="en"/>
              <a:t>: Musical Styles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Edges</a:t>
            </a:r>
            <a:r>
              <a:rPr lang="en"/>
              <a:t>: Correlations of evaluative judgments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Link presence: </a:t>
            </a:r>
            <a:endParaRPr u="sng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Indicative of </a:t>
            </a:r>
            <a:r>
              <a:rPr b="1" lang="en"/>
              <a:t>evaluative linkage between genres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483" name="Google Shape;4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2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489" name="Google Shape;489;p6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Exploring schematic classes via correlation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Nodes</a:t>
            </a:r>
            <a:r>
              <a:rPr lang="en"/>
              <a:t>: Musical Styles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Edges</a:t>
            </a:r>
            <a:r>
              <a:rPr lang="en"/>
              <a:t>: Correlations of evaluative judgments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u="sng">
                <a:solidFill>
                  <a:srgbClr val="38761D"/>
                </a:solidFill>
              </a:rPr>
              <a:t>Positive</a:t>
            </a:r>
            <a:r>
              <a:rPr b="1" lang="en" u="sng"/>
              <a:t> links</a:t>
            </a:r>
            <a:r>
              <a:rPr b="1" lang="en"/>
              <a:t>: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38761D"/>
                </a:solidFill>
              </a:rPr>
              <a:t>Likes</a:t>
            </a:r>
            <a:r>
              <a:rPr b="1" lang="en"/>
              <a:t> (</a:t>
            </a:r>
            <a:r>
              <a:rPr b="1" lang="en">
                <a:solidFill>
                  <a:srgbClr val="FF0000"/>
                </a:solidFill>
              </a:rPr>
              <a:t>dislikes</a:t>
            </a:r>
            <a:r>
              <a:rPr b="1" lang="en"/>
              <a:t>) of one genre are associated with </a:t>
            </a:r>
            <a:r>
              <a:rPr b="1" lang="en">
                <a:solidFill>
                  <a:srgbClr val="38761D"/>
                </a:solidFill>
              </a:rPr>
              <a:t>likes</a:t>
            </a:r>
            <a:r>
              <a:rPr b="1" lang="en"/>
              <a:t> (</a:t>
            </a:r>
            <a:r>
              <a:rPr b="1" lang="en">
                <a:solidFill>
                  <a:srgbClr val="FF0000"/>
                </a:solidFill>
              </a:rPr>
              <a:t>dislikes</a:t>
            </a:r>
            <a:r>
              <a:rPr b="1" lang="en"/>
              <a:t>) of the other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490" name="Google Shape;4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2"/>
          <p:cNvSpPr/>
          <p:nvPr/>
        </p:nvSpPr>
        <p:spPr>
          <a:xfrm rot="-1660005">
            <a:off x="6727040" y="2785560"/>
            <a:ext cx="418669" cy="26623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3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497" name="Google Shape;497;p6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Exploring schematic classes via correlation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Nodes</a:t>
            </a:r>
            <a:r>
              <a:rPr lang="en"/>
              <a:t>: Musical Styles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Edges</a:t>
            </a:r>
            <a:r>
              <a:rPr lang="en"/>
              <a:t>: Correlations of evaluative judgments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u="sng">
                <a:solidFill>
                  <a:srgbClr val="FF0000"/>
                </a:solidFill>
              </a:rPr>
              <a:t>Negative</a:t>
            </a:r>
            <a:r>
              <a:rPr b="1" lang="en" u="sng"/>
              <a:t> links</a:t>
            </a:r>
            <a:r>
              <a:rPr b="1" lang="en"/>
              <a:t>: 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38761D"/>
                </a:solidFill>
              </a:rPr>
              <a:t>Likes</a:t>
            </a:r>
            <a:r>
              <a:rPr b="1" lang="en"/>
              <a:t> (</a:t>
            </a:r>
            <a:r>
              <a:rPr b="1" lang="en">
                <a:solidFill>
                  <a:srgbClr val="FF0000"/>
                </a:solidFill>
              </a:rPr>
              <a:t>dislikes</a:t>
            </a:r>
            <a:r>
              <a:rPr b="1" lang="en"/>
              <a:t>) of one genre are associated with </a:t>
            </a:r>
            <a:r>
              <a:rPr b="1" lang="en">
                <a:solidFill>
                  <a:srgbClr val="FF0000"/>
                </a:solidFill>
              </a:rPr>
              <a:t>dislikes</a:t>
            </a:r>
            <a:r>
              <a:rPr b="1" lang="en">
                <a:solidFill>
                  <a:srgbClr val="38761D"/>
                </a:solidFill>
              </a:rPr>
              <a:t> (likes)</a:t>
            </a:r>
            <a:r>
              <a:rPr b="1" lang="en"/>
              <a:t> of the other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498" name="Google Shape;49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3"/>
          <p:cNvSpPr/>
          <p:nvPr/>
        </p:nvSpPr>
        <p:spPr>
          <a:xfrm rot="5021816">
            <a:off x="5231993" y="4395563"/>
            <a:ext cx="357964" cy="266228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505" name="Google Shape;505;p6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Exploring schematic classes via correlation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Nodes</a:t>
            </a:r>
            <a:r>
              <a:rPr lang="en"/>
              <a:t>: Musical Styles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Edges</a:t>
            </a:r>
            <a:r>
              <a:rPr lang="en"/>
              <a:t>: Correlations of evaluative judgments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Link </a:t>
            </a:r>
            <a:r>
              <a:rPr b="1" lang="en" u="sng"/>
              <a:t>weight</a:t>
            </a:r>
            <a:r>
              <a:rPr lang="en" u="sng"/>
              <a:t>:</a:t>
            </a:r>
            <a:endParaRPr u="sng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Indicates magnitude of the correlation (linkage)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Node proximity:</a:t>
            </a:r>
            <a:endParaRPr u="sng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Belong to clusters of interconnected genres in schematic logic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506" name="Google Shape;50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networks</a:t>
            </a:r>
            <a:endParaRPr/>
          </a:p>
        </p:txBody>
      </p:sp>
      <p:sp>
        <p:nvSpPr>
          <p:cNvPr id="512" name="Google Shape;512;p6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Exploring schematic classes via correlation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Nodes</a:t>
            </a:r>
            <a:r>
              <a:rPr lang="en"/>
              <a:t>: Musical Styles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/>
              <a:t>Edges</a:t>
            </a:r>
            <a:r>
              <a:rPr lang="en"/>
              <a:t>: Correlations of evaluative judgments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/>
              <a:t>Link absence: </a:t>
            </a:r>
            <a:endParaRPr u="sng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Indicative of </a:t>
            </a:r>
            <a:r>
              <a:rPr b="1" lang="en"/>
              <a:t>evaluative decoupling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rgbClr val="38761D"/>
                </a:solidFill>
              </a:rPr>
              <a:t>Likes</a:t>
            </a:r>
            <a:r>
              <a:rPr b="1" lang="en"/>
              <a:t> (</a:t>
            </a:r>
            <a:r>
              <a:rPr b="1" lang="en">
                <a:solidFill>
                  <a:srgbClr val="FF0000"/>
                </a:solidFill>
              </a:rPr>
              <a:t>dislikes</a:t>
            </a:r>
            <a:r>
              <a:rPr b="1" lang="en"/>
              <a:t>) of one genre not informative about evaluations of the other genre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1200"/>
              <a:buChar char="○"/>
            </a:pPr>
            <a:r>
              <a:rPr b="1" lang="en">
                <a:solidFill>
                  <a:srgbClr val="9900FF"/>
                </a:solidFill>
              </a:rPr>
              <a:t>Only </a:t>
            </a:r>
            <a:r>
              <a:rPr b="1" i="1" lang="en">
                <a:solidFill>
                  <a:srgbClr val="9900FF"/>
                </a:solidFill>
              </a:rPr>
              <a:t>r</a:t>
            </a:r>
            <a:r>
              <a:rPr b="1" lang="en">
                <a:solidFill>
                  <a:srgbClr val="9900FF"/>
                </a:solidFill>
              </a:rPr>
              <a:t> &gt; 0.20 shown</a:t>
            </a:r>
            <a:endParaRPr b="1">
              <a:solidFill>
                <a:srgbClr val="99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513" name="Google Shape;51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5"/>
          <p:cNvSpPr/>
          <p:nvPr/>
        </p:nvSpPr>
        <p:spPr>
          <a:xfrm rot="1538603">
            <a:off x="5028412" y="3667169"/>
            <a:ext cx="1559725" cy="614013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1.png" id="519" name="Google Shape;5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6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“Avant-Gardist Clumper” Schema</a:t>
            </a:r>
            <a:endParaRPr sz="2400"/>
          </a:p>
        </p:txBody>
      </p:sp>
      <p:sp>
        <p:nvSpPr>
          <p:cNvPr id="521" name="Google Shape;521;p66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Evaluative schema with relatively little number of negative oppositions or breaks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Majority of styles evaluatively coupled by positive links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Organizes taste schemas by grouping genres from all four meta-groups together</a:t>
            </a:r>
            <a:endParaRPr b="1"/>
          </a:p>
        </p:txBody>
      </p:sp>
      <p:sp>
        <p:nvSpPr>
          <p:cNvPr id="522" name="Google Shape;522;p66"/>
          <p:cNvSpPr/>
          <p:nvPr/>
        </p:nvSpPr>
        <p:spPr>
          <a:xfrm>
            <a:off x="3770100" y="1794275"/>
            <a:ext cx="2263200" cy="2227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1.png" id="527" name="Google Shape;52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7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“Avant-Gardist Clumper” Schema</a:t>
            </a:r>
            <a:endParaRPr/>
          </a:p>
        </p:txBody>
      </p:sp>
      <p:sp>
        <p:nvSpPr>
          <p:cNvPr id="529" name="Google Shape;529;p6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Evaluative schema with relatively little number of negative oppositions or breaks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Evaluation of Country is either decoupled or negatively coupled from other styles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Similar to Boutyline’s (2016) “Anything but Country” omnivore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67"/>
          <p:cNvSpPr/>
          <p:nvPr/>
        </p:nvSpPr>
        <p:spPr>
          <a:xfrm>
            <a:off x="4184425" y="5211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1.png" id="535" name="Google Shape;53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8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“Avant-Gardist Clumper” Schema</a:t>
            </a:r>
            <a:endParaRPr/>
          </a:p>
        </p:txBody>
      </p:sp>
      <p:sp>
        <p:nvSpPr>
          <p:cNvPr id="537" name="Google Shape;537;p68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Evaluative schema with relatively little number of negative oppositions or breaks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However, Hip Hop also relatively decoupled from other taste judgments 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Evaluatively coupled (in a negative way) to Rock and Pop genres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8"/>
          <p:cNvSpPr/>
          <p:nvPr/>
        </p:nvSpPr>
        <p:spPr>
          <a:xfrm>
            <a:off x="4184425" y="5211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8"/>
          <p:cNvSpPr/>
          <p:nvPr/>
        </p:nvSpPr>
        <p:spPr>
          <a:xfrm>
            <a:off x="4240875" y="406097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9"/>
          <p:cNvSpPr txBox="1"/>
          <p:nvPr>
            <p:ph type="title"/>
          </p:nvPr>
        </p:nvSpPr>
        <p:spPr>
          <a:xfrm>
            <a:off x="311700" y="555600"/>
            <a:ext cx="2981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“Avant-Gardist Clumper” Schema</a:t>
            </a:r>
            <a:endParaRPr/>
          </a:p>
        </p:txBody>
      </p:sp>
      <p:sp>
        <p:nvSpPr>
          <p:cNvPr id="545" name="Google Shape;545;p6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Evaluative schema with relatively little number of negative oppositions or breaks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Seems to oppose a discerning type of omnivorousness centered on a mixture of tradition and contemporaneity against a “country” or “pop” univorousness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Some potential for strong omnivorousness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1.png" id="546" name="Google Shape;54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“Folksy </a:t>
            </a:r>
            <a:r>
              <a:rPr lang="en"/>
              <a:t>Clumper</a:t>
            </a:r>
            <a:r>
              <a:rPr lang="en" sz="2400"/>
              <a:t>” Schema</a:t>
            </a:r>
            <a:endParaRPr sz="2400"/>
          </a:p>
        </p:txBody>
      </p:sp>
      <p:sp>
        <p:nvSpPr>
          <p:cNvPr id="552" name="Google Shape;552;p7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Taste schema featuring another relatively connected cluster without many negative oppositions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Potential for another form of omnivorousness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2.png" id="553" name="Google Shape;55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2.png" id="558" name="Google Shape;5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“Folksy Clumper” Schema</a:t>
            </a:r>
            <a:endParaRPr/>
          </a:p>
        </p:txBody>
      </p:sp>
      <p:sp>
        <p:nvSpPr>
          <p:cNvPr id="560" name="Google Shape;560;p7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Taste schema featuring another relatively connected cluster without many negative oppositions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Decouples Alt Rock and Metal from the rest of Rock/Pop Genres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Does not organize their judgments in Afro/Pop genres in a systematic way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Decouples country from other Folk Genres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Decouples Classical/Opera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2.png" id="565" name="Google Shape;56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“Folksy Clumper” Schema</a:t>
            </a:r>
            <a:endParaRPr/>
          </a:p>
        </p:txBody>
      </p:sp>
      <p:sp>
        <p:nvSpPr>
          <p:cNvPr id="567" name="Google Shape;567;p7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Taste schema featuring another relatively connected cluster without many negative oppositions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Strong evaluative link between Metal and Hip Hop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Negative link between Metal and Hip Hop and Easy Listening styles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Similar to Boutyline’s  (2016) “Anything (but) Heavy Metal”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72"/>
          <p:cNvSpPr/>
          <p:nvPr/>
        </p:nvSpPr>
        <p:spPr>
          <a:xfrm>
            <a:off x="6408150" y="1578525"/>
            <a:ext cx="831900" cy="1573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2.png" id="573" name="Google Shape;5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7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“Folksy Clumper” Schema</a:t>
            </a:r>
            <a:endParaRPr/>
          </a:p>
        </p:txBody>
      </p:sp>
      <p:sp>
        <p:nvSpPr>
          <p:cNvPr id="575" name="Google Shape;575;p7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Taste schema featuring another relatively connected cluster without many negative oppositions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Core set of positive evaluative link centered on Folk, Rock, Oldies, Bluegrass, Blues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Contrasts a more conventional omnivore aesthetic against youth music univores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3"/>
          <p:cNvSpPr/>
          <p:nvPr/>
        </p:nvSpPr>
        <p:spPr>
          <a:xfrm>
            <a:off x="6408150" y="1578525"/>
            <a:ext cx="831900" cy="1573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“Generational Splitter” Schema</a:t>
            </a:r>
            <a:endParaRPr sz="2400"/>
          </a:p>
        </p:txBody>
      </p:sp>
      <p:sp>
        <p:nvSpPr>
          <p:cNvPr id="582" name="Google Shape;582;p7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3.png" id="583" name="Google Shape;5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3.png" id="588" name="Google Shape;58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7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“Generational Splitter” Schema</a:t>
            </a:r>
            <a:endParaRPr/>
          </a:p>
        </p:txBody>
      </p:sp>
      <p:sp>
        <p:nvSpPr>
          <p:cNvPr id="590" name="Google Shape;590;p7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Relatively “simple” schema partitioning two clumps of genre evaluations along a “contemporary/traditional” axis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With “Art” genres in traditional clump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And Rock/Pop and Afro/Pop genres in contemporary clump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75"/>
          <p:cNvSpPr/>
          <p:nvPr/>
        </p:nvSpPr>
        <p:spPr>
          <a:xfrm>
            <a:off x="3836400" y="555600"/>
            <a:ext cx="2128500" cy="1635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5"/>
          <p:cNvSpPr/>
          <p:nvPr/>
        </p:nvSpPr>
        <p:spPr>
          <a:xfrm>
            <a:off x="3187625" y="2719425"/>
            <a:ext cx="2238600" cy="1773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3.png" id="597" name="Google Shape;5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“Generational Splitter” Schema</a:t>
            </a:r>
            <a:endParaRPr/>
          </a:p>
        </p:txBody>
      </p:sp>
      <p:sp>
        <p:nvSpPr>
          <p:cNvPr id="599" name="Google Shape;599;p76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Strong negative evaluative links between the Classical/Opera couplet and Hip Hop and Pop music couplet </a:t>
            </a:r>
            <a:endParaRPr/>
          </a:p>
        </p:txBody>
      </p:sp>
      <p:sp>
        <p:nvSpPr>
          <p:cNvPr id="600" name="Google Shape;600;p76"/>
          <p:cNvSpPr/>
          <p:nvPr/>
        </p:nvSpPr>
        <p:spPr>
          <a:xfrm>
            <a:off x="3717600" y="1399400"/>
            <a:ext cx="1128900" cy="201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3.png" id="605" name="Google Shape;60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“Generational Splitter” Schema</a:t>
            </a:r>
            <a:endParaRPr sz="2400"/>
          </a:p>
        </p:txBody>
      </p:sp>
      <p:sp>
        <p:nvSpPr>
          <p:cNvPr id="607" name="Google Shape;607;p7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Latin music, along with all folk genres (country music, bluegrass, folk, and gospel) seem to be “ambiguous” genres and thus relatively decoupled from main binary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7"/>
          <p:cNvSpPr/>
          <p:nvPr/>
        </p:nvSpPr>
        <p:spPr>
          <a:xfrm>
            <a:off x="5746150" y="31862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7"/>
          <p:cNvSpPr/>
          <p:nvPr/>
        </p:nvSpPr>
        <p:spPr>
          <a:xfrm>
            <a:off x="5847625" y="197217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7"/>
          <p:cNvSpPr/>
          <p:nvPr/>
        </p:nvSpPr>
        <p:spPr>
          <a:xfrm>
            <a:off x="6611150" y="131130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7"/>
          <p:cNvSpPr/>
          <p:nvPr/>
        </p:nvSpPr>
        <p:spPr>
          <a:xfrm>
            <a:off x="5194450" y="234487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77"/>
          <p:cNvSpPr/>
          <p:nvPr/>
        </p:nvSpPr>
        <p:spPr>
          <a:xfrm>
            <a:off x="5616125" y="131130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3.png" id="617" name="Google Shape;61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“Generational Splitter” Schema</a:t>
            </a:r>
            <a:endParaRPr sz="2400"/>
          </a:p>
        </p:txBody>
      </p:sp>
      <p:sp>
        <p:nvSpPr>
          <p:cNvPr id="619" name="Google Shape;619;p78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Country, Latin, and Bluegrass have potential to serve as brokers across contemporary/traditional evaluative barrier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8"/>
          <p:cNvSpPr/>
          <p:nvPr/>
        </p:nvSpPr>
        <p:spPr>
          <a:xfrm>
            <a:off x="5287800" y="2006475"/>
            <a:ext cx="1222200" cy="174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“Generational Splitter” Schema</a:t>
            </a:r>
            <a:endParaRPr sz="2400"/>
          </a:p>
        </p:txBody>
      </p:sp>
      <p:sp>
        <p:nvSpPr>
          <p:cNvPr id="626" name="Google Shape;626;p7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Same as the “Contempo/Trad” class uncovered by Goldberg (2011) and Boutyline (2016)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Potential to generate strong (e.g. boundary spanning) forms of omnivorousness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If consumers of either contemporary or traditional forms can incorporate broker genres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3.png" id="627" name="Google Shape;62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“Multiculturalist Clumper” Schema</a:t>
            </a:r>
            <a:endParaRPr sz="2400"/>
          </a:p>
        </p:txBody>
      </p:sp>
      <p:sp>
        <p:nvSpPr>
          <p:cNvPr id="633" name="Google Shape;633;p8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Very few negative links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Most densely interconnected positive coupling network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Combines Art, Rock/Pop and most significantly Afro/Pop rhythm into omnivorous core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Similar to Goldberg’s (2011) and Boutyline’s (2016) unqualified “Omnivore/Univore”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4.png" id="634" name="Google Shape;63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80"/>
          <p:cNvSpPr/>
          <p:nvPr/>
        </p:nvSpPr>
        <p:spPr>
          <a:xfrm>
            <a:off x="3244975" y="2002375"/>
            <a:ext cx="2612100" cy="188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4.png" id="640" name="Google Shape;64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8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“Multiculturalist Clumper” Schema</a:t>
            </a:r>
            <a:endParaRPr/>
          </a:p>
        </p:txBody>
      </p:sp>
      <p:sp>
        <p:nvSpPr>
          <p:cNvPr id="642" name="Google Shape;642;p8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Very few negative links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Decouples judgment of all folk genres from gospel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1"/>
          <p:cNvSpPr/>
          <p:nvPr/>
        </p:nvSpPr>
        <p:spPr>
          <a:xfrm>
            <a:off x="5987950" y="1185125"/>
            <a:ext cx="1222200" cy="174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44" name="Google Shape;644;p81"/>
          <p:cNvSpPr/>
          <p:nvPr/>
        </p:nvSpPr>
        <p:spPr>
          <a:xfrm>
            <a:off x="3537950" y="40614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4.png" id="649" name="Google Shape;64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8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“Multiculturalist Clumper” Schema</a:t>
            </a:r>
            <a:endParaRPr/>
          </a:p>
        </p:txBody>
      </p:sp>
      <p:sp>
        <p:nvSpPr>
          <p:cNvPr id="651" name="Google Shape;651;p82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Very few negative links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Decouples judgment of all folk genres from gospel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Decouples judgment of Metal and to a lesser extent alternative from other Rock/Pop genres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2"/>
          <p:cNvSpPr/>
          <p:nvPr/>
        </p:nvSpPr>
        <p:spPr>
          <a:xfrm>
            <a:off x="5113300" y="55560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82"/>
          <p:cNvSpPr/>
          <p:nvPr/>
        </p:nvSpPr>
        <p:spPr>
          <a:xfrm>
            <a:off x="5211825" y="15293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82"/>
          <p:cNvSpPr/>
          <p:nvPr/>
        </p:nvSpPr>
        <p:spPr>
          <a:xfrm>
            <a:off x="4537600" y="2312075"/>
            <a:ext cx="1669800" cy="1090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4.png" id="659" name="Google Shape;65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“Multiculturalist Clumper” Schema</a:t>
            </a:r>
            <a:endParaRPr/>
          </a:p>
        </p:txBody>
      </p:sp>
      <p:sp>
        <p:nvSpPr>
          <p:cNvPr id="661" name="Google Shape;661;p8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Very few negative links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Decouples judgment of all folk genres from gospel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Decouples judgment of Metal and to a lesser extent alternative from other Rock/Pop genres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Classical, Opera and Musicals are evaluatively linked but relatively decoupled from Jazz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3"/>
          <p:cNvSpPr/>
          <p:nvPr/>
        </p:nvSpPr>
        <p:spPr>
          <a:xfrm>
            <a:off x="4359275" y="149812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3"/>
          <p:cNvSpPr/>
          <p:nvPr/>
        </p:nvSpPr>
        <p:spPr>
          <a:xfrm>
            <a:off x="3636475" y="139940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3"/>
          <p:cNvSpPr/>
          <p:nvPr/>
        </p:nvSpPr>
        <p:spPr>
          <a:xfrm>
            <a:off x="3919225" y="2983525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83"/>
          <p:cNvSpPr/>
          <p:nvPr/>
        </p:nvSpPr>
        <p:spPr>
          <a:xfrm>
            <a:off x="3919225" y="2135250"/>
            <a:ext cx="551700" cy="543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5.png" id="670" name="Google Shape;67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8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“Conventional Clumper” Schema</a:t>
            </a:r>
            <a:endParaRPr/>
          </a:p>
        </p:txBody>
      </p:sp>
      <p:sp>
        <p:nvSpPr>
          <p:cNvPr id="672" name="Google Shape;672;p84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5.png" id="677" name="Google Shape;67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“Conventional Clumper” Schema</a:t>
            </a:r>
            <a:endParaRPr/>
          </a:p>
        </p:txBody>
      </p:sp>
      <p:sp>
        <p:nvSpPr>
          <p:cNvPr id="679" name="Google Shape;679;p85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Network partitions of the taste schema suggest stronger dependencies based on traditional genre classifications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Folk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Contemporary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Artistic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5"/>
          <p:cNvSpPr/>
          <p:nvPr/>
        </p:nvSpPr>
        <p:spPr>
          <a:xfrm rot="-8456733">
            <a:off x="3440443" y="180276"/>
            <a:ext cx="2115517" cy="3027049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85"/>
          <p:cNvSpPr/>
          <p:nvPr/>
        </p:nvSpPr>
        <p:spPr>
          <a:xfrm rot="-3617694">
            <a:off x="5351765" y="1538551"/>
            <a:ext cx="1822269" cy="227184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85"/>
          <p:cNvSpPr/>
          <p:nvPr/>
        </p:nvSpPr>
        <p:spPr>
          <a:xfrm rot="-358254">
            <a:off x="3930063" y="3095652"/>
            <a:ext cx="1912073" cy="1419196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3" name="Google Shape;683;p85"/>
          <p:cNvSpPr txBox="1"/>
          <p:nvPr/>
        </p:nvSpPr>
        <p:spPr>
          <a:xfrm>
            <a:off x="2231850" y="789150"/>
            <a:ext cx="162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Contemporary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4" name="Google Shape;684;p85"/>
          <p:cNvSpPr txBox="1"/>
          <p:nvPr/>
        </p:nvSpPr>
        <p:spPr>
          <a:xfrm>
            <a:off x="5817375" y="3660950"/>
            <a:ext cx="162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Artistic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85" name="Google Shape;685;p85"/>
          <p:cNvSpPr txBox="1"/>
          <p:nvPr/>
        </p:nvSpPr>
        <p:spPr>
          <a:xfrm>
            <a:off x="4014675" y="4507875"/>
            <a:ext cx="162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Folk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ste-corrnet-class5.png" id="690" name="Google Shape;69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8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“Conventional Clumper” Schema</a:t>
            </a:r>
            <a:endParaRPr/>
          </a:p>
        </p:txBody>
      </p:sp>
      <p:sp>
        <p:nvSpPr>
          <p:cNvPr id="692" name="Google Shape;692;p86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Network partitions of the taste schema suggest stronger dependencies based on traditional genre classifications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Folk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Contemporary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Artistic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With negative dependencies across the contemporary artistic divide</a:t>
            </a:r>
            <a:endParaRPr b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In this respect similar to Goldberg’s “Hi-Low” schema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6"/>
          <p:cNvSpPr txBox="1"/>
          <p:nvPr/>
        </p:nvSpPr>
        <p:spPr>
          <a:xfrm>
            <a:off x="2231850" y="789150"/>
            <a:ext cx="162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Contemporary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4" name="Google Shape;694;p86"/>
          <p:cNvSpPr txBox="1"/>
          <p:nvPr/>
        </p:nvSpPr>
        <p:spPr>
          <a:xfrm>
            <a:off x="5817375" y="3660950"/>
            <a:ext cx="1629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Artistic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5" name="Google Shape;695;p86"/>
          <p:cNvSpPr/>
          <p:nvPr/>
        </p:nvSpPr>
        <p:spPr>
          <a:xfrm rot="-2330527">
            <a:off x="4784574" y="259108"/>
            <a:ext cx="1222144" cy="337477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“Conventional Clumper” Schema</a:t>
            </a:r>
            <a:endParaRPr/>
          </a:p>
        </p:txBody>
      </p:sp>
      <p:sp>
        <p:nvSpPr>
          <p:cNvPr id="701" name="Google Shape;701;p8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Network partitions of the taste schema suggest stronger dependencies based on traditional genre classifications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Folk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Contemporary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Artistic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Suggests a command of conventional categories and an aversion to mixing indiscriminately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5.png" id="702" name="Google Shape;70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“Conventional Clumper” Schema</a:t>
            </a:r>
            <a:endParaRPr/>
          </a:p>
        </p:txBody>
      </p:sp>
      <p:sp>
        <p:nvSpPr>
          <p:cNvPr id="708" name="Google Shape;708;p88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Network partitions of the taste schema suggest stronger dependencies based on traditional genre classifications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Folk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Contemporary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Artistic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Less potential for strong levels of omnivorousness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aste-corrnet-class5.png" id="709" name="Google Shape;70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6800" y="277800"/>
            <a:ext cx="6117201" cy="458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 betweenness in correlation network</a:t>
            </a:r>
            <a:endParaRPr/>
          </a:p>
        </p:txBody>
      </p:sp>
      <p:sp>
        <p:nvSpPr>
          <p:cNvPr id="715" name="Google Shape;715;p8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Correlation networks featuring genres with extremely high betweenness are more fragmented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Indicative of strong splitting tendencies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Gen. Splitters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Conventional Clumpers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re-betweenness-by-schematic-class.png" id="716" name="Google Shape;71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702175"/>
            <a:ext cx="5572475" cy="41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Genre betweenness in correlation network</a:t>
            </a:r>
            <a:endParaRPr/>
          </a:p>
        </p:txBody>
      </p:sp>
      <p:sp>
        <p:nvSpPr>
          <p:cNvPr id="722" name="Google Shape;722;p90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Correlation networks featuring genres with extremely high betweenness are more fragmented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Indicative of strong splitting tendencies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Gen. Splitters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Conventional Clumpers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However no systematic link between schema fragmentation and potential for behavioral omnivorousness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re-betweenness-by-schematic-class.png" id="723" name="Google Shape;7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702175"/>
            <a:ext cx="5572475" cy="41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